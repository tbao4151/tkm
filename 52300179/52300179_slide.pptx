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7923" y="335900"/>
            <a:ext cx="4649952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6384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5988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5988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53536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5988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6623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5988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5353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53536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59886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91637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5353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84016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5752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53536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bg 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000" y="38785"/>
            <a:ext cx="269976" cy="2699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286" y="59877"/>
            <a:ext cx="37757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792" y="984699"/>
            <a:ext cx="5538215" cy="12259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53046" y="3126175"/>
            <a:ext cx="614044" cy="118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00522" y="3126175"/>
            <a:ext cx="215900" cy="118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slide" Target="slide1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Relationship Id="rId18" Type="http://schemas.openxmlformats.org/officeDocument/2006/relationships/slide" Target="slide1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" Target="slide1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slide" Target="slide1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jpg"/><Relationship Id="rId8" Type="http://schemas.openxmlformats.org/officeDocument/2006/relationships/slide" Target="slide1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" Target="slide14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jpg"/><Relationship Id="rId6" Type="http://schemas.openxmlformats.org/officeDocument/2006/relationships/slide" Target="slide14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slide" Target="slide1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slide" Target="slide1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slide" Target="slide14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jpg"/><Relationship Id="rId6" Type="http://schemas.openxmlformats.org/officeDocument/2006/relationships/slide" Target="slide14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slide" Target="slide14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slide" Target="slide1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21087" y="306384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141470" y="305988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319272" y="305988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412450" y="3051006"/>
            <a:ext cx="203200" cy="55880"/>
            <a:chOff x="4412450" y="3051006"/>
            <a:chExt cx="203200" cy="55880"/>
          </a:xfrm>
        </p:grpSpPr>
        <p:sp>
          <p:nvSpPr>
            <p:cNvPr id="6" name="object 6" descr=""/>
            <p:cNvSpPr/>
            <p:nvPr/>
          </p:nvSpPr>
          <p:spPr>
            <a:xfrm>
              <a:off x="4475618" y="305353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12450" y="305988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4683417" y="3049740"/>
            <a:ext cx="203200" cy="58419"/>
            <a:chOff x="4683417" y="3049740"/>
            <a:chExt cx="203200" cy="58419"/>
          </a:xfrm>
        </p:grpSpPr>
        <p:sp>
          <p:nvSpPr>
            <p:cNvPr id="9" name="object 9" descr=""/>
            <p:cNvSpPr/>
            <p:nvPr/>
          </p:nvSpPr>
          <p:spPr>
            <a:xfrm>
              <a:off x="4772318" y="306623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83417" y="305988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759618" y="305353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4954397" y="3049740"/>
            <a:ext cx="203200" cy="58419"/>
            <a:chOff x="4954397" y="3049740"/>
            <a:chExt cx="203200" cy="58419"/>
          </a:xfrm>
        </p:grpSpPr>
        <p:sp>
          <p:nvSpPr>
            <p:cNvPr id="13" name="object 13" descr=""/>
            <p:cNvSpPr/>
            <p:nvPr/>
          </p:nvSpPr>
          <p:spPr>
            <a:xfrm>
              <a:off x="5030598" y="305353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954397" y="305988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30598" y="309163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5301577" y="305353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5478573" y="3051006"/>
            <a:ext cx="238760" cy="57150"/>
            <a:chOff x="5478573" y="3051006"/>
            <a:chExt cx="238760" cy="57150"/>
          </a:xfrm>
        </p:grpSpPr>
        <p:sp>
          <p:nvSpPr>
            <p:cNvPr id="18" name="object 18" descr=""/>
            <p:cNvSpPr/>
            <p:nvPr/>
          </p:nvSpPr>
          <p:spPr>
            <a:xfrm>
              <a:off x="5603025" y="3084016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575961" y="30575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481104" y="3053536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99" y="116725"/>
            <a:ext cx="423878" cy="431977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75691" y="624318"/>
            <a:ext cx="5659755" cy="796925"/>
            <a:chOff x="75691" y="624318"/>
            <a:chExt cx="5659755" cy="796925"/>
          </a:xfrm>
        </p:grpSpPr>
        <p:sp>
          <p:nvSpPr>
            <p:cNvPr id="23" name="object 23" descr=""/>
            <p:cNvSpPr/>
            <p:nvPr/>
          </p:nvSpPr>
          <p:spPr>
            <a:xfrm>
              <a:off x="75691" y="624318"/>
              <a:ext cx="5608955" cy="82550"/>
            </a:xfrm>
            <a:custGeom>
              <a:avLst/>
              <a:gdLst/>
              <a:ahLst/>
              <a:cxnLst/>
              <a:rect l="l" t="t" r="r" b="b"/>
              <a:pathLst>
                <a:path w="5608955" h="82550">
                  <a:moveTo>
                    <a:pt x="555788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608682" y="82384"/>
                  </a:lnTo>
                  <a:lnTo>
                    <a:pt x="5608682" y="50800"/>
                  </a:lnTo>
                  <a:lnTo>
                    <a:pt x="5604674" y="31075"/>
                  </a:lnTo>
                  <a:lnTo>
                    <a:pt x="5593759" y="14922"/>
                  </a:lnTo>
                  <a:lnTo>
                    <a:pt x="5577606" y="4008"/>
                  </a:lnTo>
                  <a:lnTo>
                    <a:pt x="5557882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26492" y="687567"/>
              <a:ext cx="5608955" cy="733425"/>
            </a:xfrm>
            <a:custGeom>
              <a:avLst/>
              <a:gdLst/>
              <a:ahLst/>
              <a:cxnLst/>
              <a:rect l="l" t="t" r="r" b="b"/>
              <a:pathLst>
                <a:path w="5608955" h="733425">
                  <a:moveTo>
                    <a:pt x="5608682" y="0"/>
                  </a:moveTo>
                  <a:lnTo>
                    <a:pt x="0" y="0"/>
                  </a:lnTo>
                  <a:lnTo>
                    <a:pt x="0" y="733207"/>
                  </a:lnTo>
                  <a:lnTo>
                    <a:pt x="5608682" y="733207"/>
                  </a:lnTo>
                  <a:lnTo>
                    <a:pt x="56086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5691" y="668730"/>
              <a:ext cx="5608955" cy="701675"/>
            </a:xfrm>
            <a:custGeom>
              <a:avLst/>
              <a:gdLst/>
              <a:ahLst/>
              <a:cxnLst/>
              <a:rect l="l" t="t" r="r" b="b"/>
              <a:pathLst>
                <a:path w="5608955" h="701675">
                  <a:moveTo>
                    <a:pt x="5608682" y="0"/>
                  </a:moveTo>
                  <a:lnTo>
                    <a:pt x="0" y="0"/>
                  </a:lnTo>
                  <a:lnTo>
                    <a:pt x="0" y="650443"/>
                  </a:lnTo>
                  <a:lnTo>
                    <a:pt x="4008" y="670168"/>
                  </a:lnTo>
                  <a:lnTo>
                    <a:pt x="14922" y="686321"/>
                  </a:lnTo>
                  <a:lnTo>
                    <a:pt x="31075" y="697235"/>
                  </a:lnTo>
                  <a:lnTo>
                    <a:pt x="50800" y="701243"/>
                  </a:lnTo>
                  <a:lnTo>
                    <a:pt x="5557882" y="701243"/>
                  </a:lnTo>
                  <a:lnTo>
                    <a:pt x="5577606" y="697235"/>
                  </a:lnTo>
                  <a:lnTo>
                    <a:pt x="5593759" y="686321"/>
                  </a:lnTo>
                  <a:lnTo>
                    <a:pt x="5604674" y="670168"/>
                  </a:lnTo>
                  <a:lnTo>
                    <a:pt x="5608682" y="650443"/>
                  </a:lnTo>
                  <a:lnTo>
                    <a:pt x="5608682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26492" y="687567"/>
            <a:ext cx="5608955" cy="733425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746250" marR="196215" indent="-1645920">
              <a:lnSpc>
                <a:spcPct val="106700"/>
              </a:lnSpc>
              <a:spcBef>
                <a:spcPts val="640"/>
              </a:spcBef>
            </a:pPr>
            <a:r>
              <a:rPr dirty="0"/>
              <a:t>Thiết</a:t>
            </a:r>
            <a:r>
              <a:rPr dirty="0" spc="-85"/>
              <a:t> </a:t>
            </a:r>
            <a:r>
              <a:rPr dirty="0" spc="-60"/>
              <a:t>kế</a:t>
            </a:r>
            <a:r>
              <a:rPr dirty="0" spc="-40"/>
              <a:t> </a:t>
            </a:r>
            <a:r>
              <a:rPr dirty="0" spc="-20"/>
              <a:t>và</a:t>
            </a:r>
            <a:r>
              <a:rPr dirty="0" spc="-45"/>
              <a:t> </a:t>
            </a:r>
            <a:r>
              <a:rPr dirty="0" spc="-20"/>
              <a:t>triển</a:t>
            </a:r>
            <a:r>
              <a:rPr dirty="0" spc="-40"/>
              <a:t> </a:t>
            </a:r>
            <a:r>
              <a:rPr dirty="0" spc="-20"/>
              <a:t>khai</a:t>
            </a:r>
            <a:r>
              <a:rPr dirty="0" spc="-45"/>
              <a:t> </a:t>
            </a:r>
            <a:r>
              <a:rPr dirty="0" spc="-60"/>
              <a:t>mạng</a:t>
            </a:r>
            <a:r>
              <a:rPr dirty="0" spc="-40"/>
              <a:t> </a:t>
            </a:r>
            <a:r>
              <a:rPr dirty="0"/>
              <a:t>Metro</a:t>
            </a:r>
            <a:r>
              <a:rPr dirty="0" spc="-45"/>
              <a:t> </a:t>
            </a:r>
            <a:r>
              <a:rPr dirty="0" spc="-30"/>
              <a:t>Ethernet</a:t>
            </a:r>
            <a:r>
              <a:rPr dirty="0" spc="-45"/>
              <a:t> </a:t>
            </a:r>
            <a:r>
              <a:rPr dirty="0" spc="-105"/>
              <a:t>sử</a:t>
            </a:r>
            <a:r>
              <a:rPr dirty="0"/>
              <a:t> </a:t>
            </a:r>
            <a:r>
              <a:rPr dirty="0" spc="-55"/>
              <a:t>dụng</a:t>
            </a:r>
            <a:r>
              <a:rPr dirty="0" spc="-45"/>
              <a:t> </a:t>
            </a:r>
            <a:r>
              <a:rPr dirty="0" spc="70"/>
              <a:t>MPLS</a:t>
            </a:r>
            <a:r>
              <a:rPr dirty="0" spc="-40"/>
              <a:t> </a:t>
            </a:r>
            <a:r>
              <a:rPr dirty="0" spc="-30"/>
              <a:t>cho</a:t>
            </a:r>
            <a:r>
              <a:rPr dirty="0" spc="-45"/>
              <a:t> </a:t>
            </a:r>
            <a:r>
              <a:rPr dirty="0" spc="-10"/>
              <a:t>kết</a:t>
            </a:r>
            <a:r>
              <a:rPr dirty="0" spc="-45"/>
              <a:t> </a:t>
            </a:r>
            <a:r>
              <a:rPr dirty="0" spc="-25"/>
              <a:t>nối </a:t>
            </a:r>
            <a:r>
              <a:rPr dirty="0" spc="-30"/>
              <a:t>đa</a:t>
            </a:r>
            <a:r>
              <a:rPr dirty="0" spc="-60"/>
              <a:t> </a:t>
            </a:r>
            <a:r>
              <a:rPr dirty="0"/>
              <a:t>chi</a:t>
            </a:r>
            <a:r>
              <a:rPr dirty="0" spc="-55"/>
              <a:t> </a:t>
            </a:r>
            <a:r>
              <a:rPr dirty="0" spc="-50"/>
              <a:t>nhánh</a:t>
            </a:r>
            <a:r>
              <a:rPr dirty="0" spc="-55"/>
              <a:t> </a:t>
            </a:r>
            <a:r>
              <a:rPr dirty="0" spc="-45"/>
              <a:t>doanh</a:t>
            </a:r>
            <a:r>
              <a:rPr dirty="0" spc="-50"/>
              <a:t> </a:t>
            </a:r>
            <a:r>
              <a:rPr dirty="0" spc="-10"/>
              <a:t>nghiệp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1931009" y="1585765"/>
            <a:ext cx="1898014" cy="587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latin typeface="Tahoma"/>
                <a:cs typeface="Tahoma"/>
              </a:rPr>
              <a:t>Nguyễn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Văn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Thiên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Bảo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-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52300179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Tahoma"/>
              <a:cs typeface="Tahoma"/>
            </a:endParaRPr>
          </a:p>
          <a:p>
            <a:pPr algn="ctr" marL="423545" marR="415290" indent="-635">
              <a:lnSpc>
                <a:spcPts val="800"/>
              </a:lnSpc>
            </a:pPr>
            <a:r>
              <a:rPr dirty="0" sz="700">
                <a:latin typeface="Microsoft Sans Serif"/>
                <a:cs typeface="Microsoft Sans Serif"/>
              </a:rPr>
              <a:t>Đại</a:t>
            </a:r>
            <a:r>
              <a:rPr dirty="0" sz="700" spc="50">
                <a:latin typeface="Microsoft Sans Serif"/>
                <a:cs typeface="Microsoft Sans Serif"/>
              </a:rPr>
              <a:t> </a:t>
            </a:r>
            <a:r>
              <a:rPr dirty="0" sz="700">
                <a:latin typeface="Microsoft Sans Serif"/>
                <a:cs typeface="Microsoft Sans Serif"/>
              </a:rPr>
              <a:t>học</a:t>
            </a:r>
            <a:r>
              <a:rPr dirty="0" sz="700" spc="55">
                <a:latin typeface="Microsoft Sans Serif"/>
                <a:cs typeface="Microsoft Sans Serif"/>
              </a:rPr>
              <a:t> </a:t>
            </a:r>
            <a:r>
              <a:rPr dirty="0" sz="700">
                <a:latin typeface="Microsoft Sans Serif"/>
                <a:cs typeface="Microsoft Sans Serif"/>
              </a:rPr>
              <a:t>Tôn</a:t>
            </a:r>
            <a:r>
              <a:rPr dirty="0" sz="700" spc="55">
                <a:latin typeface="Microsoft Sans Serif"/>
                <a:cs typeface="Microsoft Sans Serif"/>
              </a:rPr>
              <a:t> </a:t>
            </a:r>
            <a:r>
              <a:rPr dirty="0" sz="700">
                <a:latin typeface="Microsoft Sans Serif"/>
                <a:cs typeface="Microsoft Sans Serif"/>
              </a:rPr>
              <a:t>Đức</a:t>
            </a:r>
            <a:r>
              <a:rPr dirty="0" sz="700" spc="50">
                <a:latin typeface="Microsoft Sans Serif"/>
                <a:cs typeface="Microsoft Sans Serif"/>
              </a:rPr>
              <a:t> </a:t>
            </a:r>
            <a:r>
              <a:rPr dirty="0" sz="700" spc="-10">
                <a:latin typeface="Microsoft Sans Serif"/>
                <a:cs typeface="Microsoft Sans Serif"/>
              </a:rPr>
              <a:t>Thắng</a:t>
            </a:r>
            <a:r>
              <a:rPr dirty="0" sz="700" spc="500">
                <a:latin typeface="Microsoft Sans Serif"/>
                <a:cs typeface="Microsoft Sans Serif"/>
              </a:rPr>
              <a:t> </a:t>
            </a:r>
            <a:r>
              <a:rPr dirty="0" sz="700">
                <a:latin typeface="Microsoft Sans Serif"/>
                <a:cs typeface="Microsoft Sans Serif"/>
              </a:rPr>
              <a:t>Khoa</a:t>
            </a:r>
            <a:r>
              <a:rPr dirty="0" sz="700" spc="30">
                <a:latin typeface="Microsoft Sans Serif"/>
                <a:cs typeface="Microsoft Sans Serif"/>
              </a:rPr>
              <a:t> </a:t>
            </a:r>
            <a:r>
              <a:rPr dirty="0" sz="700">
                <a:latin typeface="Microsoft Sans Serif"/>
                <a:cs typeface="Microsoft Sans Serif"/>
              </a:rPr>
              <a:t>Công</a:t>
            </a:r>
            <a:r>
              <a:rPr dirty="0" sz="700" spc="30">
                <a:latin typeface="Microsoft Sans Serif"/>
                <a:cs typeface="Microsoft Sans Serif"/>
              </a:rPr>
              <a:t> </a:t>
            </a:r>
            <a:r>
              <a:rPr dirty="0" sz="700" spc="-10">
                <a:latin typeface="Microsoft Sans Serif"/>
                <a:cs typeface="Microsoft Sans Serif"/>
              </a:rPr>
              <a:t>nghệ</a:t>
            </a:r>
            <a:r>
              <a:rPr dirty="0" sz="700" spc="30">
                <a:latin typeface="Microsoft Sans Serif"/>
                <a:cs typeface="Microsoft Sans Serif"/>
              </a:rPr>
              <a:t> </a:t>
            </a:r>
            <a:r>
              <a:rPr dirty="0" sz="700">
                <a:latin typeface="Microsoft Sans Serif"/>
                <a:cs typeface="Microsoft Sans Serif"/>
              </a:rPr>
              <a:t>thông</a:t>
            </a:r>
            <a:r>
              <a:rPr dirty="0" sz="700" spc="30">
                <a:latin typeface="Microsoft Sans Serif"/>
                <a:cs typeface="Microsoft Sans Serif"/>
              </a:rPr>
              <a:t> </a:t>
            </a:r>
            <a:r>
              <a:rPr dirty="0" sz="700" spc="-25">
                <a:latin typeface="Microsoft Sans Serif"/>
                <a:cs typeface="Microsoft Sans Serif"/>
              </a:rPr>
              <a:t>tin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9" name="object 29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33" name="object 33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286" y="59877"/>
            <a:ext cx="142811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Nội</a:t>
            </a:r>
            <a:r>
              <a:rPr dirty="0" spc="-30"/>
              <a:t> </a:t>
            </a:r>
            <a:r>
              <a:rPr dirty="0" spc="-50"/>
              <a:t>dung</a:t>
            </a:r>
            <a:r>
              <a:rPr dirty="0" spc="-30"/>
              <a:t> </a:t>
            </a:r>
            <a:r>
              <a:rPr dirty="0"/>
              <a:t>trình</a:t>
            </a:r>
            <a:r>
              <a:rPr dirty="0" spc="-25"/>
              <a:t> </a:t>
            </a:r>
            <a:r>
              <a:rPr dirty="0" spc="-45"/>
              <a:t>bày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08" y="625716"/>
            <a:ext cx="146215" cy="14621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8389" y="627471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Microsoft Sans Serif"/>
                <a:cs typeface="Microsoft Sans Serif"/>
              </a:rPr>
              <a:t>1</a:t>
            </a:r>
            <a:endParaRPr sz="7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8439" y="598962"/>
            <a:ext cx="2207260" cy="2178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1765" algn="l"/>
              </a:tabLst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Mở</a:t>
            </a:r>
            <a:r>
              <a:rPr dirty="0" sz="1000" spc="-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 spc="-4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đầu</a:t>
            </a:r>
            <a:r>
              <a:rPr dirty="0" sz="1000" spc="-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 spc="7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dirty="0" sz="1000" spc="-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Giới</a:t>
            </a:r>
            <a:r>
              <a:rPr dirty="0" sz="1000" spc="-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thiệu</a:t>
            </a:r>
            <a:endParaRPr sz="1000">
              <a:latin typeface="Tahoma"/>
              <a:cs typeface="Tahoma"/>
            </a:endParaRPr>
          </a:p>
          <a:p>
            <a:pPr marL="151765" indent="-139065">
              <a:lnSpc>
                <a:spcPct val="100000"/>
              </a:lnSpc>
              <a:spcBef>
                <a:spcPts val="1050"/>
              </a:spcBef>
              <a:buAutoNum type="arabicPeriod"/>
              <a:tabLst>
                <a:tab pos="151765" algn="l"/>
              </a:tabLst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Thiết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45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kế</a:t>
            </a: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Kiến</a:t>
            </a: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trúc</a:t>
            </a: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 spc="-35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mạng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LAN</a:t>
            </a:r>
            <a:endParaRPr sz="1000">
              <a:latin typeface="Tahoma"/>
              <a:cs typeface="Tahoma"/>
            </a:endParaRPr>
          </a:p>
          <a:p>
            <a:pPr marL="151765" indent="-139065">
              <a:lnSpc>
                <a:spcPct val="100000"/>
              </a:lnSpc>
              <a:spcBef>
                <a:spcPts val="1050"/>
              </a:spcBef>
              <a:buAutoNum type="arabicPeriod"/>
              <a:tabLst>
                <a:tab pos="151765" algn="l"/>
              </a:tabLst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Thiết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000" spc="-45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kế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Mô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hình</a:t>
            </a:r>
            <a:r>
              <a:rPr dirty="0" sz="1000" spc="-15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tổng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thể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(Topology)</a:t>
            </a:r>
            <a:endParaRPr sz="1000">
              <a:latin typeface="Tahoma"/>
              <a:cs typeface="Tahoma"/>
            </a:endParaRPr>
          </a:p>
          <a:p>
            <a:pPr marL="151765" indent="-139065">
              <a:lnSpc>
                <a:spcPct val="100000"/>
              </a:lnSpc>
              <a:spcBef>
                <a:spcPts val="1050"/>
              </a:spcBef>
              <a:buAutoNum type="arabicPeriod"/>
              <a:tabLst>
                <a:tab pos="151765" algn="l"/>
              </a:tabLst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Cơ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000" spc="-4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chế</a:t>
            </a: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hoạt</a:t>
            </a: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000" spc="-45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động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của 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MPLS</a:t>
            </a:r>
            <a:endParaRPr sz="1000">
              <a:latin typeface="Tahoma"/>
              <a:cs typeface="Tahoma"/>
            </a:endParaRPr>
          </a:p>
          <a:p>
            <a:pPr marL="151765" indent="-139065">
              <a:lnSpc>
                <a:spcPct val="100000"/>
              </a:lnSpc>
              <a:spcBef>
                <a:spcPts val="1050"/>
              </a:spcBef>
              <a:buAutoNum type="arabicPeriod"/>
              <a:tabLst>
                <a:tab pos="151765" algn="l"/>
              </a:tabLst>
            </a:pP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Control-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Plane</a:t>
            </a:r>
            <a:r>
              <a:rPr dirty="0" sz="1000" spc="2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7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&amp;</a:t>
            </a:r>
            <a:r>
              <a:rPr dirty="0" sz="1000" spc="3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L2VPN</a:t>
            </a:r>
            <a:endParaRPr sz="1000">
              <a:latin typeface="Tahoma"/>
              <a:cs typeface="Tahoma"/>
            </a:endParaRPr>
          </a:p>
          <a:p>
            <a:pPr marL="151765" indent="-139065">
              <a:lnSpc>
                <a:spcPct val="100000"/>
              </a:lnSpc>
              <a:spcBef>
                <a:spcPts val="1050"/>
              </a:spcBef>
              <a:buAutoNum type="arabicPeriod"/>
              <a:tabLst>
                <a:tab pos="151765" algn="l"/>
              </a:tabLst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Đo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000" spc="-35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lường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000" spc="70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&amp;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Phân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tích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000" spc="-40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hiệu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8" action="ppaction://hlinksldjump"/>
              </a:rPr>
              <a:t>năng</a:t>
            </a:r>
            <a:endParaRPr sz="1000">
              <a:latin typeface="Tahoma"/>
              <a:cs typeface="Tahoma"/>
            </a:endParaRPr>
          </a:p>
          <a:p>
            <a:pPr marL="151765" indent="-139065">
              <a:lnSpc>
                <a:spcPct val="100000"/>
              </a:lnSpc>
              <a:spcBef>
                <a:spcPts val="1050"/>
              </a:spcBef>
              <a:buAutoNum type="arabicPeriod"/>
              <a:tabLst>
                <a:tab pos="151765" algn="l"/>
              </a:tabLst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Giao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diện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Giám</a:t>
            </a: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sát</a:t>
            </a: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000" spc="7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&amp;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Tự</a:t>
            </a: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000" spc="-45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động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 hóa</a:t>
            </a:r>
            <a:endParaRPr sz="1000">
              <a:latin typeface="Tahoma"/>
              <a:cs typeface="Tahoma"/>
            </a:endParaRPr>
          </a:p>
          <a:p>
            <a:pPr marL="151765" indent="-139065">
              <a:lnSpc>
                <a:spcPct val="100000"/>
              </a:lnSpc>
              <a:spcBef>
                <a:spcPts val="1050"/>
              </a:spcBef>
              <a:buAutoNum type="arabicPeriod"/>
              <a:tabLst>
                <a:tab pos="151765" algn="l"/>
              </a:tabLst>
            </a:pPr>
            <a:r>
              <a:rPr dirty="0" sz="1000">
                <a:solidFill>
                  <a:srgbClr val="3333B2"/>
                </a:solidFill>
                <a:latin typeface="Tahoma"/>
                <a:cs typeface="Tahoma"/>
                <a:hlinkClick r:id="rId10" action="ppaction://hlinksldjump"/>
              </a:rPr>
              <a:t>Kết</a:t>
            </a:r>
            <a:r>
              <a:rPr dirty="0" sz="1000" spc="45">
                <a:solidFill>
                  <a:srgbClr val="3333B2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  <a:hlinkClick r:id="rId10" action="ppaction://hlinksldjump"/>
              </a:rPr>
              <a:t>luận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508" y="911491"/>
            <a:ext cx="146215" cy="14621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18389" y="913234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Microsoft Sans Serif"/>
                <a:cs typeface="Microsoft Sans Serif"/>
              </a:rPr>
              <a:t>2</a:t>
            </a:r>
            <a:endParaRPr sz="700">
              <a:latin typeface="Microsoft Sans Serif"/>
              <a:cs typeface="Microsoft Sans Serif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1508" y="1197254"/>
            <a:ext cx="146215" cy="14621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18389" y="1199009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Microsoft Sans Serif"/>
                <a:cs typeface="Microsoft Sans Serif"/>
              </a:rPr>
              <a:t>3</a:t>
            </a:r>
            <a:endParaRPr sz="700">
              <a:latin typeface="Microsoft Sans Serif"/>
              <a:cs typeface="Microsoft Sans Serif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1508" y="1483017"/>
            <a:ext cx="146215" cy="14621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18389" y="1484772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Microsoft Sans Serif"/>
                <a:cs typeface="Microsoft Sans Serif"/>
              </a:rPr>
              <a:t>4</a:t>
            </a:r>
            <a:endParaRPr sz="700">
              <a:latin typeface="Microsoft Sans Serif"/>
              <a:cs typeface="Microsoft Sans Serif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508" y="1768792"/>
            <a:ext cx="146215" cy="14621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18389" y="1770534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Microsoft Sans Serif"/>
                <a:cs typeface="Microsoft Sans Serif"/>
              </a:rPr>
              <a:t>5</a:t>
            </a:r>
            <a:endParaRPr sz="700">
              <a:latin typeface="Microsoft Sans Serif"/>
              <a:cs typeface="Microsoft Sans Serif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1508" y="2054555"/>
            <a:ext cx="146215" cy="14621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18389" y="2056310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Microsoft Sans Serif"/>
                <a:cs typeface="Microsoft Sans Serif"/>
              </a:rPr>
              <a:t>6</a:t>
            </a:r>
            <a:endParaRPr sz="700">
              <a:latin typeface="Microsoft Sans Serif"/>
              <a:cs typeface="Microsoft Sans Serif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1508" y="2340330"/>
            <a:ext cx="146215" cy="146215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18389" y="2342072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Microsoft Sans Serif"/>
                <a:cs typeface="Microsoft Sans Serif"/>
              </a:rPr>
              <a:t>7</a:t>
            </a:r>
            <a:endParaRPr sz="700">
              <a:latin typeface="Microsoft Sans Serif"/>
              <a:cs typeface="Microsoft Sans Serif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1508" y="2626093"/>
            <a:ext cx="146215" cy="146215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18389" y="2627835"/>
            <a:ext cx="730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EAEAF7"/>
                </a:solidFill>
                <a:latin typeface="Microsoft Sans Serif"/>
                <a:cs typeface="Microsoft Sans Serif"/>
              </a:rPr>
              <a:t>8</a:t>
            </a:r>
            <a:endParaRPr sz="700">
              <a:latin typeface="Microsoft Sans Serif"/>
              <a:cs typeface="Microsoft Sans Serif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21" name="object 21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18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18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18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18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18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1.</a:t>
            </a:r>
            <a:r>
              <a:rPr dirty="0" spc="-15"/>
              <a:t> </a:t>
            </a:r>
            <a:r>
              <a:rPr dirty="0"/>
              <a:t>Mở</a:t>
            </a:r>
            <a:r>
              <a:rPr dirty="0" spc="-15"/>
              <a:t> </a:t>
            </a:r>
            <a:r>
              <a:rPr dirty="0" spc="-40"/>
              <a:t>đầu</a:t>
            </a:r>
            <a:r>
              <a:rPr dirty="0" spc="-15"/>
              <a:t> </a:t>
            </a:r>
            <a:r>
              <a:rPr dirty="0" spc="120"/>
              <a:t>&amp;</a:t>
            </a:r>
            <a:r>
              <a:rPr dirty="0" spc="-15"/>
              <a:t> </a:t>
            </a:r>
            <a:r>
              <a:rPr dirty="0"/>
              <a:t>Giới</a:t>
            </a:r>
            <a:r>
              <a:rPr dirty="0" spc="-15"/>
              <a:t> </a:t>
            </a:r>
            <a:r>
              <a:rPr dirty="0" spc="-25"/>
              <a:t>thiệu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679" y="1145743"/>
            <a:ext cx="59613" cy="59613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6037" rIns="0" bIns="0" rtlCol="0" vert="horz">
            <a:spAutoFit/>
          </a:bodyPr>
          <a:lstStyle/>
          <a:p>
            <a:pPr marL="265430" marR="13335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Arial"/>
                <a:cs typeface="Arial"/>
              </a:rPr>
              <a:t>Bối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spc="-35" b="1">
                <a:latin typeface="Arial"/>
                <a:cs typeface="Arial"/>
              </a:rPr>
              <a:t>cảnh:</a:t>
            </a:r>
            <a:r>
              <a:rPr dirty="0" b="1">
                <a:latin typeface="Arial"/>
                <a:cs typeface="Arial"/>
              </a:rPr>
              <a:t> </a:t>
            </a:r>
            <a:r>
              <a:rPr dirty="0"/>
              <a:t>Nhu</a:t>
            </a:r>
            <a:r>
              <a:rPr dirty="0" spc="-45"/>
              <a:t> </a:t>
            </a:r>
            <a:r>
              <a:rPr dirty="0" spc="-30"/>
              <a:t>cầu</a:t>
            </a:r>
            <a:r>
              <a:rPr dirty="0" spc="-40"/>
              <a:t> </a:t>
            </a:r>
            <a:r>
              <a:rPr dirty="0" spc="-20"/>
              <a:t>kết</a:t>
            </a:r>
            <a:r>
              <a:rPr dirty="0" spc="-45"/>
              <a:t> </a:t>
            </a:r>
            <a:r>
              <a:rPr dirty="0"/>
              <a:t>nối</a:t>
            </a:r>
            <a:r>
              <a:rPr dirty="0" spc="-40"/>
              <a:t> </a:t>
            </a:r>
            <a:r>
              <a:rPr dirty="0" spc="-35"/>
              <a:t>mạng</a:t>
            </a:r>
            <a:r>
              <a:rPr dirty="0" spc="-45"/>
              <a:t> </a:t>
            </a:r>
            <a:r>
              <a:rPr dirty="0"/>
              <a:t>nội</a:t>
            </a:r>
            <a:r>
              <a:rPr dirty="0" spc="-35"/>
              <a:t> </a:t>
            </a:r>
            <a:r>
              <a:rPr dirty="0"/>
              <a:t>bộ</a:t>
            </a:r>
            <a:r>
              <a:rPr dirty="0" spc="-45"/>
              <a:t> </a:t>
            </a:r>
            <a:r>
              <a:rPr dirty="0" spc="-40"/>
              <a:t>giữa</a:t>
            </a:r>
            <a:r>
              <a:rPr dirty="0" spc="-35"/>
              <a:t> </a:t>
            </a:r>
            <a:r>
              <a:rPr dirty="0"/>
              <a:t>các</a:t>
            </a:r>
            <a:r>
              <a:rPr dirty="0" spc="-45"/>
              <a:t> </a:t>
            </a:r>
            <a:r>
              <a:rPr dirty="0"/>
              <a:t>chi</a:t>
            </a:r>
            <a:r>
              <a:rPr dirty="0" spc="-40"/>
              <a:t> </a:t>
            </a:r>
            <a:r>
              <a:rPr dirty="0" spc="-50"/>
              <a:t>nhánh</a:t>
            </a:r>
            <a:r>
              <a:rPr dirty="0" spc="-25"/>
              <a:t> cách</a:t>
            </a:r>
            <a:r>
              <a:rPr dirty="0" spc="-45"/>
              <a:t> </a:t>
            </a:r>
            <a:r>
              <a:rPr dirty="0" spc="-10"/>
              <a:t>xa</a:t>
            </a:r>
            <a:r>
              <a:rPr dirty="0" spc="-40"/>
              <a:t> </a:t>
            </a:r>
            <a:r>
              <a:rPr dirty="0" spc="-50"/>
              <a:t>nhau</a:t>
            </a:r>
            <a:r>
              <a:rPr dirty="0" spc="-30"/>
              <a:t> của</a:t>
            </a:r>
            <a:r>
              <a:rPr dirty="0" spc="-40"/>
              <a:t> </a:t>
            </a:r>
            <a:r>
              <a:rPr dirty="0" spc="-45"/>
              <a:t>doanh</a:t>
            </a:r>
            <a:r>
              <a:rPr dirty="0" spc="-35"/>
              <a:t> </a:t>
            </a:r>
            <a:r>
              <a:rPr dirty="0" spc="-40"/>
              <a:t>nghiệp </a:t>
            </a:r>
            <a:r>
              <a:rPr dirty="0" spc="-20"/>
              <a:t>ngày </a:t>
            </a:r>
            <a:r>
              <a:rPr dirty="0" spc="-25"/>
              <a:t>càng</a:t>
            </a:r>
            <a:r>
              <a:rPr dirty="0" spc="-55"/>
              <a:t> </a:t>
            </a:r>
            <a:r>
              <a:rPr dirty="0" spc="-20"/>
              <a:t>tăng</a:t>
            </a:r>
            <a:r>
              <a:rPr dirty="0" spc="-60"/>
              <a:t> </a:t>
            </a:r>
            <a:r>
              <a:rPr dirty="0" spc="-25"/>
              <a:t>cao,</a:t>
            </a:r>
            <a:r>
              <a:rPr dirty="0" spc="-50"/>
              <a:t> </a:t>
            </a:r>
            <a:r>
              <a:rPr dirty="0" spc="-10"/>
              <a:t>đòi</a:t>
            </a:r>
            <a:r>
              <a:rPr dirty="0" spc="-65"/>
              <a:t> </a:t>
            </a:r>
            <a:r>
              <a:rPr dirty="0"/>
              <a:t>hỏi</a:t>
            </a:r>
            <a:r>
              <a:rPr dirty="0" spc="-45"/>
              <a:t> </a:t>
            </a:r>
            <a:r>
              <a:rPr dirty="0" spc="-60"/>
              <a:t>đường</a:t>
            </a:r>
            <a:r>
              <a:rPr dirty="0" spc="-20"/>
              <a:t> </a:t>
            </a:r>
            <a:r>
              <a:rPr dirty="0" spc="-35"/>
              <a:t>truyền</a:t>
            </a:r>
            <a:r>
              <a:rPr dirty="0" spc="-45"/>
              <a:t> </a:t>
            </a:r>
            <a:r>
              <a:rPr dirty="0"/>
              <a:t>ổn</a:t>
            </a:r>
            <a:r>
              <a:rPr dirty="0" spc="-45"/>
              <a:t> </a:t>
            </a:r>
            <a:r>
              <a:rPr dirty="0" spc="-30"/>
              <a:t>định,</a:t>
            </a:r>
            <a:r>
              <a:rPr dirty="0" spc="-50"/>
              <a:t> </a:t>
            </a:r>
            <a:r>
              <a:rPr dirty="0" spc="-20"/>
              <a:t>bảo</a:t>
            </a:r>
            <a:r>
              <a:rPr dirty="0" spc="-40"/>
              <a:t> </a:t>
            </a:r>
            <a:r>
              <a:rPr dirty="0"/>
              <a:t>mật</a:t>
            </a:r>
            <a:r>
              <a:rPr dirty="0" spc="-50"/>
              <a:t> </a:t>
            </a:r>
            <a:r>
              <a:rPr dirty="0" spc="-10"/>
              <a:t>và</a:t>
            </a:r>
            <a:r>
              <a:rPr dirty="0" spc="-45"/>
              <a:t> </a:t>
            </a:r>
            <a:r>
              <a:rPr dirty="0" spc="-40"/>
              <a:t>hiệu </a:t>
            </a:r>
            <a:r>
              <a:rPr dirty="0" spc="-20"/>
              <a:t>suất</a:t>
            </a:r>
            <a:r>
              <a:rPr dirty="0" spc="-40"/>
              <a:t> </a:t>
            </a:r>
            <a:r>
              <a:rPr dirty="0" spc="-20"/>
              <a:t>cao.</a:t>
            </a:r>
          </a:p>
          <a:p>
            <a:pPr marL="265430" marR="121285">
              <a:lnSpc>
                <a:spcPct val="100000"/>
              </a:lnSpc>
              <a:spcBef>
                <a:spcPts val="290"/>
              </a:spcBef>
            </a:pPr>
            <a:r>
              <a:rPr dirty="0" spc="-10" b="1">
                <a:latin typeface="Arial"/>
                <a:cs typeface="Arial"/>
              </a:rPr>
              <a:t>Giải</a:t>
            </a:r>
            <a:r>
              <a:rPr dirty="0" spc="40" b="1">
                <a:latin typeface="Arial"/>
                <a:cs typeface="Arial"/>
              </a:rPr>
              <a:t> </a:t>
            </a:r>
            <a:r>
              <a:rPr dirty="0" spc="-40" b="1">
                <a:latin typeface="Arial"/>
                <a:cs typeface="Arial"/>
              </a:rPr>
              <a:t>pháp: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/>
              <a:t>Sử</a:t>
            </a:r>
            <a:r>
              <a:rPr dirty="0" spc="-25"/>
              <a:t> </a:t>
            </a:r>
            <a:r>
              <a:rPr dirty="0" spc="-45"/>
              <a:t>dụng</a:t>
            </a:r>
            <a:r>
              <a:rPr dirty="0" spc="-20"/>
              <a:t> </a:t>
            </a:r>
            <a:r>
              <a:rPr dirty="0" spc="-25"/>
              <a:t>công</a:t>
            </a:r>
            <a:r>
              <a:rPr dirty="0" spc="-15"/>
              <a:t> </a:t>
            </a:r>
            <a:r>
              <a:rPr dirty="0" spc="-55"/>
              <a:t>nghệ</a:t>
            </a:r>
            <a:r>
              <a:rPr dirty="0" spc="-25"/>
              <a:t> </a:t>
            </a:r>
            <a:r>
              <a:rPr dirty="0"/>
              <a:t>lõi</a:t>
            </a:r>
            <a:r>
              <a:rPr dirty="0" spc="-20"/>
              <a:t> </a:t>
            </a:r>
            <a:r>
              <a:rPr dirty="0" b="1">
                <a:latin typeface="Arial"/>
                <a:cs typeface="Arial"/>
              </a:rPr>
              <a:t>MPLS</a:t>
            </a:r>
            <a:r>
              <a:rPr dirty="0" spc="10" b="1">
                <a:latin typeface="Arial"/>
                <a:cs typeface="Arial"/>
              </a:rPr>
              <a:t> </a:t>
            </a:r>
            <a:r>
              <a:rPr dirty="0" spc="-10"/>
              <a:t>(Multiprotocol</a:t>
            </a:r>
            <a:r>
              <a:rPr dirty="0" spc="-20"/>
              <a:t> </a:t>
            </a:r>
            <a:r>
              <a:rPr dirty="0" spc="-10"/>
              <a:t>Label</a:t>
            </a:r>
            <a:r>
              <a:rPr dirty="0" spc="-20"/>
              <a:t> Switching)</a:t>
            </a:r>
            <a:r>
              <a:rPr dirty="0" spc="-25"/>
              <a:t> trên</a:t>
            </a:r>
            <a:r>
              <a:rPr dirty="0" spc="-15"/>
              <a:t> </a:t>
            </a:r>
            <a:r>
              <a:rPr dirty="0" spc="-50"/>
              <a:t>nền</a:t>
            </a:r>
            <a:r>
              <a:rPr dirty="0" spc="-25"/>
              <a:t> </a:t>
            </a:r>
            <a:r>
              <a:rPr dirty="0" spc="-20"/>
              <a:t>tảng </a:t>
            </a:r>
            <a:r>
              <a:rPr dirty="0" spc="-10"/>
              <a:t>Metro Ethernet.</a:t>
            </a: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dirty="0" b="1">
                <a:latin typeface="Arial"/>
                <a:cs typeface="Arial"/>
              </a:rPr>
              <a:t>Mục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tiêu: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/>
              <a:t>Xây</a:t>
            </a:r>
            <a:r>
              <a:rPr dirty="0" spc="-35"/>
              <a:t> </a:t>
            </a:r>
            <a:r>
              <a:rPr dirty="0" spc="-45"/>
              <a:t>dựng</a:t>
            </a:r>
            <a:r>
              <a:rPr dirty="0" spc="-35"/>
              <a:t> </a:t>
            </a:r>
            <a:r>
              <a:rPr dirty="0" spc="-10"/>
              <a:t>mô</a:t>
            </a:r>
            <a:r>
              <a:rPr dirty="0" spc="-45"/>
              <a:t> </a:t>
            </a:r>
            <a:r>
              <a:rPr dirty="0" spc="-20"/>
              <a:t>hình</a:t>
            </a:r>
            <a:r>
              <a:rPr dirty="0" spc="-40"/>
              <a:t> </a:t>
            </a:r>
            <a:r>
              <a:rPr dirty="0" spc="-10"/>
              <a:t>kết</a:t>
            </a:r>
            <a:r>
              <a:rPr dirty="0" spc="-40"/>
              <a:t> </a:t>
            </a:r>
            <a:r>
              <a:rPr dirty="0"/>
              <a:t>nối</a:t>
            </a:r>
            <a:r>
              <a:rPr dirty="0" spc="-45"/>
              <a:t> </a:t>
            </a:r>
            <a:r>
              <a:rPr dirty="0"/>
              <a:t>3</a:t>
            </a:r>
            <a:r>
              <a:rPr dirty="0" spc="-40"/>
              <a:t> </a:t>
            </a:r>
            <a:r>
              <a:rPr dirty="0"/>
              <a:t>chi</a:t>
            </a:r>
            <a:r>
              <a:rPr dirty="0" spc="-40"/>
              <a:t> </a:t>
            </a:r>
            <a:r>
              <a:rPr dirty="0" spc="-45"/>
              <a:t>nhánh</a:t>
            </a:r>
            <a:r>
              <a:rPr dirty="0" spc="-35"/>
              <a:t> </a:t>
            </a:r>
            <a:r>
              <a:rPr dirty="0" spc="-45"/>
              <a:t>doanh</a:t>
            </a:r>
            <a:r>
              <a:rPr dirty="0" spc="-30"/>
              <a:t> </a:t>
            </a:r>
            <a:r>
              <a:rPr dirty="0" spc="-40"/>
              <a:t>nghiệp </a:t>
            </a:r>
            <a:r>
              <a:rPr dirty="0" spc="-25"/>
              <a:t>qua</a:t>
            </a:r>
            <a:r>
              <a:rPr dirty="0" spc="-40"/>
              <a:t> </a:t>
            </a:r>
            <a:r>
              <a:rPr dirty="0" spc="-10"/>
              <a:t>hạ</a:t>
            </a:r>
            <a:r>
              <a:rPr dirty="0" spc="-45"/>
              <a:t> </a:t>
            </a:r>
            <a:r>
              <a:rPr dirty="0" spc="-20"/>
              <a:t>tầng</a:t>
            </a:r>
            <a:r>
              <a:rPr dirty="0" spc="-40"/>
              <a:t> </a:t>
            </a:r>
            <a:r>
              <a:rPr dirty="0" spc="-35"/>
              <a:t>mạng</a:t>
            </a:r>
            <a:r>
              <a:rPr dirty="0" spc="-45"/>
              <a:t> </a:t>
            </a:r>
            <a:r>
              <a:rPr dirty="0" spc="-40"/>
              <a:t>nhà </a:t>
            </a:r>
            <a:r>
              <a:rPr dirty="0" spc="-25"/>
              <a:t>cung</a:t>
            </a:r>
            <a:r>
              <a:rPr dirty="0" spc="-35"/>
              <a:t> </a:t>
            </a:r>
            <a:r>
              <a:rPr dirty="0" spc="-20"/>
              <a:t>cấp.</a:t>
            </a: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b="1">
                <a:latin typeface="Arial"/>
                <a:cs typeface="Arial"/>
              </a:rPr>
              <a:t>Môi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spc="-50" b="1">
                <a:latin typeface="Arial"/>
                <a:cs typeface="Arial"/>
              </a:rPr>
              <a:t>trường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mô</a:t>
            </a:r>
            <a:r>
              <a:rPr dirty="0" spc="40" b="1">
                <a:latin typeface="Arial"/>
                <a:cs typeface="Arial"/>
              </a:rPr>
              <a:t> </a:t>
            </a:r>
            <a:r>
              <a:rPr dirty="0" spc="-50" b="1">
                <a:latin typeface="Arial"/>
                <a:cs typeface="Arial"/>
              </a:rPr>
              <a:t>phỏng:</a:t>
            </a:r>
            <a:r>
              <a:rPr dirty="0" spc="10" b="1">
                <a:latin typeface="Arial"/>
                <a:cs typeface="Arial"/>
              </a:rPr>
              <a:t> </a:t>
            </a:r>
            <a:r>
              <a:rPr dirty="0" spc="-10"/>
              <a:t>Mininet,</a:t>
            </a:r>
            <a:r>
              <a:rPr dirty="0" spc="-30"/>
              <a:t> </a:t>
            </a:r>
            <a:r>
              <a:rPr dirty="0" spc="-20"/>
              <a:t>Open</a:t>
            </a:r>
            <a:r>
              <a:rPr dirty="0" spc="-30"/>
              <a:t> </a:t>
            </a:r>
            <a:r>
              <a:rPr dirty="0" spc="-25"/>
              <a:t>vSwitch, </a:t>
            </a:r>
            <a:r>
              <a:rPr dirty="0" spc="-10"/>
              <a:t>và</a:t>
            </a:r>
            <a:r>
              <a:rPr dirty="0" spc="-30"/>
              <a:t> </a:t>
            </a:r>
            <a:r>
              <a:rPr dirty="0" spc="-10"/>
              <a:t>Linux</a:t>
            </a:r>
            <a:r>
              <a:rPr dirty="0" spc="-30"/>
              <a:t> </a:t>
            </a:r>
            <a:r>
              <a:rPr dirty="0" spc="-45"/>
              <a:t>network</a:t>
            </a:r>
            <a:r>
              <a:rPr dirty="0" spc="-25"/>
              <a:t> </a:t>
            </a:r>
            <a:r>
              <a:rPr dirty="0" spc="-10"/>
              <a:t>namespaces.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679" y="1487373"/>
            <a:ext cx="59613" cy="5961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679" y="1828990"/>
            <a:ext cx="59613" cy="5961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679" y="2018779"/>
            <a:ext cx="59613" cy="59613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9" name="object 9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2.</a:t>
            </a:r>
            <a:r>
              <a:rPr dirty="0" spc="-35"/>
              <a:t> </a:t>
            </a:r>
            <a:r>
              <a:rPr dirty="0"/>
              <a:t>Thiết</a:t>
            </a:r>
            <a:r>
              <a:rPr dirty="0" spc="-30"/>
              <a:t> </a:t>
            </a:r>
            <a:r>
              <a:rPr dirty="0" spc="-45"/>
              <a:t>kế</a:t>
            </a:r>
            <a:r>
              <a:rPr dirty="0" spc="-35"/>
              <a:t> </a:t>
            </a:r>
            <a:r>
              <a:rPr dirty="0"/>
              <a:t>Kiến</a:t>
            </a:r>
            <a:r>
              <a:rPr dirty="0" spc="-30"/>
              <a:t> </a:t>
            </a:r>
            <a:r>
              <a:rPr dirty="0"/>
              <a:t>trúc</a:t>
            </a:r>
            <a:r>
              <a:rPr dirty="0" spc="-35"/>
              <a:t> </a:t>
            </a:r>
            <a:r>
              <a:rPr dirty="0" spc="-55"/>
              <a:t>mạng</a:t>
            </a:r>
            <a:r>
              <a:rPr dirty="0" spc="-35"/>
              <a:t> </a:t>
            </a:r>
            <a:r>
              <a:rPr dirty="0" spc="30"/>
              <a:t>LAN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792" y="1029479"/>
            <a:ext cx="36772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Mô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hình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bao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gồm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ba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chi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nhánh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với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các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kiến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trúc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thiết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kế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khác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nhau: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187" y="1539468"/>
            <a:ext cx="59613" cy="5961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187" y="1729257"/>
            <a:ext cx="59613" cy="5961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187" y="1919046"/>
            <a:ext cx="59613" cy="5961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4312" y="1234637"/>
            <a:ext cx="1506220" cy="936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5430" marR="5080" indent="-253365">
              <a:lnSpc>
                <a:spcPct val="124500"/>
              </a:lnSpc>
              <a:spcBef>
                <a:spcPts val="100"/>
              </a:spcBef>
            </a:pPr>
            <a:r>
              <a:rPr dirty="0" sz="1000" spc="-25" b="1">
                <a:latin typeface="Arial"/>
                <a:cs typeface="Arial"/>
              </a:rPr>
              <a:t>Branch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1: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Flat</a:t>
            </a:r>
            <a:r>
              <a:rPr dirty="0" sz="1000" spc="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Network </a:t>
            </a:r>
            <a:r>
              <a:rPr dirty="0" sz="1000">
                <a:latin typeface="Tahoma"/>
                <a:cs typeface="Tahoma"/>
              </a:rPr>
              <a:t>Mạng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phẳng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đơn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giản. </a:t>
            </a:r>
            <a:r>
              <a:rPr dirty="0" sz="1000" spc="-20">
                <a:latin typeface="Tahoma"/>
                <a:cs typeface="Tahoma"/>
              </a:rPr>
              <a:t>Dành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cho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quy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mô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nhỏ.</a:t>
            </a:r>
            <a:endParaRPr sz="1000">
              <a:latin typeface="Tahoma"/>
              <a:cs typeface="Tahoma"/>
            </a:endParaRP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Tahoma"/>
                <a:cs typeface="Tahoma"/>
              </a:rPr>
              <a:t>Tất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cả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thiết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bị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chung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1 </a:t>
            </a:r>
            <a:r>
              <a:rPr dirty="0" sz="1000" spc="-35">
                <a:latin typeface="Tahoma"/>
                <a:cs typeface="Tahoma"/>
              </a:rPr>
              <a:t>broadcast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domain.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01519" y="1527162"/>
            <a:ext cx="59613" cy="5961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1519" y="1716951"/>
            <a:ext cx="59613" cy="5961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01519" y="2058568"/>
            <a:ext cx="59613" cy="59613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958632" y="1222343"/>
            <a:ext cx="1819275" cy="93662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25" b="1">
                <a:latin typeface="Arial"/>
                <a:cs typeface="Arial"/>
              </a:rPr>
              <a:t>Branch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2: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Three-</a:t>
            </a:r>
            <a:r>
              <a:rPr dirty="0" sz="1000" spc="-20" b="1">
                <a:latin typeface="Arial"/>
                <a:cs typeface="Arial"/>
              </a:rPr>
              <a:t>tier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35">
                <a:latin typeface="Tahoma"/>
                <a:cs typeface="Tahoma"/>
              </a:rPr>
              <a:t>Access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- </a:t>
            </a:r>
            <a:r>
              <a:rPr dirty="0" sz="1000" spc="-20">
                <a:latin typeface="Tahoma"/>
                <a:cs typeface="Tahoma"/>
              </a:rPr>
              <a:t>Distribution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- </a:t>
            </a:r>
            <a:r>
              <a:rPr dirty="0" sz="1000" spc="-20">
                <a:latin typeface="Tahoma"/>
                <a:cs typeface="Tahoma"/>
              </a:rPr>
              <a:t>Core.</a:t>
            </a:r>
            <a:endParaRPr sz="1000">
              <a:latin typeface="Tahoma"/>
              <a:cs typeface="Tahoma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dirty="0" sz="1000" spc="-20">
                <a:latin typeface="Tahoma"/>
                <a:cs typeface="Tahoma"/>
              </a:rPr>
              <a:t>Dành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cho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quy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mô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trung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bình </a:t>
            </a:r>
            <a:r>
              <a:rPr dirty="0" sz="1000" spc="-60">
                <a:latin typeface="Tahoma"/>
                <a:cs typeface="Tahoma"/>
              </a:rPr>
              <a:t>đến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lớn.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Tahoma"/>
                <a:cs typeface="Tahoma"/>
              </a:rPr>
              <a:t>Dễ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dàng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mở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rộng,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quản </a:t>
            </a:r>
            <a:r>
              <a:rPr dirty="0" sz="1000" spc="-20">
                <a:latin typeface="Tahoma"/>
                <a:cs typeface="Tahoma"/>
              </a:rPr>
              <a:t>trị.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95851" y="1603082"/>
            <a:ext cx="59613" cy="5961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95851" y="1792871"/>
            <a:ext cx="59613" cy="59613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95851" y="1982660"/>
            <a:ext cx="59613" cy="59613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3852964" y="1298251"/>
            <a:ext cx="1843405" cy="7848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25" b="1">
                <a:latin typeface="Arial"/>
                <a:cs typeface="Arial"/>
              </a:rPr>
              <a:t>Branch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3: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Leaf-</a:t>
            </a:r>
            <a:r>
              <a:rPr dirty="0" sz="1000" spc="-10" b="1">
                <a:latin typeface="Arial"/>
                <a:cs typeface="Arial"/>
              </a:rPr>
              <a:t>Spine</a:t>
            </a:r>
            <a:endParaRPr sz="1000">
              <a:latin typeface="Arial"/>
              <a:cs typeface="Arial"/>
            </a:endParaRPr>
          </a:p>
          <a:p>
            <a:pPr algn="just" marL="265430" marR="5080">
              <a:lnSpc>
                <a:spcPct val="124500"/>
              </a:lnSpc>
            </a:pPr>
            <a:r>
              <a:rPr dirty="0" sz="1000">
                <a:latin typeface="Tahoma"/>
                <a:cs typeface="Tahoma"/>
              </a:rPr>
              <a:t>Kiến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trúc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trung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tâm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dữ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liệu. </a:t>
            </a:r>
            <a:r>
              <a:rPr dirty="0" sz="1000">
                <a:latin typeface="Tahoma"/>
                <a:cs typeface="Tahoma"/>
              </a:rPr>
              <a:t>Tối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ưu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lưu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lượng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East-West. </a:t>
            </a:r>
            <a:r>
              <a:rPr dirty="0" sz="1000">
                <a:latin typeface="Tahoma"/>
                <a:cs typeface="Tahoma"/>
              </a:rPr>
              <a:t>Độ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trễ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thấp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và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dự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phòng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cao.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7" name="object 17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11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11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11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11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286" y="59877"/>
            <a:ext cx="309245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3.</a:t>
            </a:r>
            <a:r>
              <a:rPr dirty="0" spc="-40"/>
              <a:t> </a:t>
            </a:r>
            <a:r>
              <a:rPr dirty="0"/>
              <a:t>Thiết</a:t>
            </a:r>
            <a:r>
              <a:rPr dirty="0" spc="-40"/>
              <a:t> </a:t>
            </a:r>
            <a:r>
              <a:rPr dirty="0" spc="-45"/>
              <a:t>kế</a:t>
            </a:r>
            <a:r>
              <a:rPr dirty="0" spc="-40"/>
              <a:t> </a:t>
            </a:r>
            <a:r>
              <a:rPr dirty="0"/>
              <a:t>Mô</a:t>
            </a:r>
            <a:r>
              <a:rPr dirty="0" spc="-40"/>
              <a:t> </a:t>
            </a:r>
            <a:r>
              <a:rPr dirty="0" spc="-20"/>
              <a:t>hình</a:t>
            </a:r>
            <a:r>
              <a:rPr dirty="0" spc="-40"/>
              <a:t> </a:t>
            </a:r>
            <a:r>
              <a:rPr dirty="0" spc="-20"/>
              <a:t>tổng</a:t>
            </a:r>
            <a:r>
              <a:rPr dirty="0" spc="-45"/>
              <a:t> </a:t>
            </a:r>
            <a:r>
              <a:rPr dirty="0"/>
              <a:t>thể</a:t>
            </a:r>
            <a:r>
              <a:rPr dirty="0" spc="-40"/>
              <a:t> </a:t>
            </a:r>
            <a:r>
              <a:rPr dirty="0" spc="-10"/>
              <a:t>(Topology)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15" y="1002601"/>
            <a:ext cx="59613" cy="5961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45" y="1317853"/>
            <a:ext cx="48018" cy="4801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45" y="1596212"/>
            <a:ext cx="48018" cy="4801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145" y="1874570"/>
            <a:ext cx="48018" cy="4801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24675" y="925517"/>
            <a:ext cx="2245360" cy="151892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488950">
              <a:lnSpc>
                <a:spcPts val="1100"/>
              </a:lnSpc>
              <a:spcBef>
                <a:spcPts val="215"/>
              </a:spcBef>
            </a:pPr>
            <a:r>
              <a:rPr dirty="0" sz="1000" b="1">
                <a:latin typeface="Arial"/>
                <a:cs typeface="Arial"/>
              </a:rPr>
              <a:t>Mạng</a:t>
            </a:r>
            <a:r>
              <a:rPr dirty="0" sz="1000" spc="-10" b="1">
                <a:latin typeface="Arial"/>
                <a:cs typeface="Arial"/>
              </a:rPr>
              <a:t> nhà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35" b="1">
                <a:latin typeface="Arial"/>
                <a:cs typeface="Arial"/>
              </a:rPr>
              <a:t>cung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cấp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(Provider </a:t>
            </a:r>
            <a:r>
              <a:rPr dirty="0" sz="1000" spc="-10" b="1">
                <a:latin typeface="Arial"/>
                <a:cs typeface="Arial"/>
              </a:rPr>
              <a:t>Backbone):</a:t>
            </a:r>
            <a:endParaRPr sz="1000">
              <a:latin typeface="Arial"/>
              <a:cs typeface="Arial"/>
            </a:endParaRPr>
          </a:p>
          <a:p>
            <a:pPr marL="265430" marR="116205">
              <a:lnSpc>
                <a:spcPct val="101499"/>
              </a:lnSpc>
              <a:spcBef>
                <a:spcPts val="155"/>
              </a:spcBef>
            </a:pPr>
            <a:r>
              <a:rPr dirty="0" sz="900" b="1">
                <a:latin typeface="Arial"/>
                <a:cs typeface="Arial"/>
              </a:rPr>
              <a:t>CE </a:t>
            </a:r>
            <a:r>
              <a:rPr dirty="0" sz="900" spc="-10" b="1">
                <a:latin typeface="Arial"/>
                <a:cs typeface="Arial"/>
              </a:rPr>
              <a:t>(Customer</a:t>
            </a:r>
            <a:r>
              <a:rPr dirty="0" sz="900" spc="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Edge): </a:t>
            </a:r>
            <a:r>
              <a:rPr dirty="0" sz="900">
                <a:latin typeface="Microsoft Sans Serif"/>
                <a:cs typeface="Microsoft Sans Serif"/>
              </a:rPr>
              <a:t>Bộ</a:t>
            </a:r>
            <a:r>
              <a:rPr dirty="0" sz="900" spc="-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định </a:t>
            </a:r>
            <a:r>
              <a:rPr dirty="0" sz="900" spc="-10">
                <a:latin typeface="Microsoft Sans Serif"/>
                <a:cs typeface="Microsoft Sans Serif"/>
              </a:rPr>
              <a:t>tuyến phía</a:t>
            </a:r>
            <a:r>
              <a:rPr dirty="0" sz="900" spc="-5">
                <a:latin typeface="Microsoft Sans Serif"/>
                <a:cs typeface="Microsoft Sans Serif"/>
              </a:rPr>
              <a:t> </a:t>
            </a:r>
            <a:r>
              <a:rPr dirty="0" sz="900" spc="-25">
                <a:latin typeface="Microsoft Sans Serif"/>
                <a:cs typeface="Microsoft Sans Serif"/>
              </a:rPr>
              <a:t>khách</a:t>
            </a:r>
            <a:r>
              <a:rPr dirty="0" sz="900" spc="-5">
                <a:latin typeface="Microsoft Sans Serif"/>
                <a:cs typeface="Microsoft Sans Serif"/>
              </a:rPr>
              <a:t> </a:t>
            </a:r>
            <a:r>
              <a:rPr dirty="0" sz="900" spc="-10">
                <a:latin typeface="Microsoft Sans Serif"/>
                <a:cs typeface="Microsoft Sans Serif"/>
              </a:rPr>
              <a:t>hàng.</a:t>
            </a:r>
            <a:endParaRPr sz="900">
              <a:latin typeface="Microsoft Sans Serif"/>
              <a:cs typeface="Microsoft Sans Serif"/>
            </a:endParaRPr>
          </a:p>
          <a:p>
            <a:pPr marL="265430" marR="180340">
              <a:lnSpc>
                <a:spcPct val="101499"/>
              </a:lnSpc>
            </a:pPr>
            <a:r>
              <a:rPr dirty="0" sz="900" b="1">
                <a:latin typeface="Arial"/>
                <a:cs typeface="Arial"/>
              </a:rPr>
              <a:t>PE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(Provider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Edge):</a:t>
            </a:r>
            <a:r>
              <a:rPr dirty="0" sz="900" b="1">
                <a:latin typeface="Arial"/>
                <a:cs typeface="Arial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Bộ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định</a:t>
            </a:r>
            <a:r>
              <a:rPr dirty="0" sz="900" spc="10">
                <a:latin typeface="Microsoft Sans Serif"/>
                <a:cs typeface="Microsoft Sans Serif"/>
              </a:rPr>
              <a:t> </a:t>
            </a:r>
            <a:r>
              <a:rPr dirty="0" sz="900" spc="-10">
                <a:latin typeface="Microsoft Sans Serif"/>
                <a:cs typeface="Microsoft Sans Serif"/>
              </a:rPr>
              <a:t>tuyến biên</a:t>
            </a:r>
            <a:r>
              <a:rPr dirty="0" sz="900" spc="-20">
                <a:latin typeface="Microsoft Sans Serif"/>
                <a:cs typeface="Microsoft Sans Serif"/>
              </a:rPr>
              <a:t> </a:t>
            </a:r>
            <a:r>
              <a:rPr dirty="0" sz="900" spc="-10">
                <a:latin typeface="Microsoft Sans Serif"/>
                <a:cs typeface="Microsoft Sans Serif"/>
              </a:rPr>
              <a:t>nhà</a:t>
            </a:r>
            <a:r>
              <a:rPr dirty="0" sz="900" spc="-20">
                <a:latin typeface="Microsoft Sans Serif"/>
                <a:cs typeface="Microsoft Sans Serif"/>
              </a:rPr>
              <a:t> cung cấp.</a:t>
            </a:r>
            <a:endParaRPr sz="900">
              <a:latin typeface="Microsoft Sans Serif"/>
              <a:cs typeface="Microsoft Sans Serif"/>
            </a:endParaRPr>
          </a:p>
          <a:p>
            <a:pPr marL="265430" marR="5080">
              <a:lnSpc>
                <a:spcPct val="101499"/>
              </a:lnSpc>
            </a:pPr>
            <a:r>
              <a:rPr dirty="0" sz="900" b="1">
                <a:latin typeface="Arial"/>
                <a:cs typeface="Arial"/>
              </a:rPr>
              <a:t>P</a:t>
            </a:r>
            <a:r>
              <a:rPr dirty="0" sz="900" spc="1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(Provider</a:t>
            </a:r>
            <a:r>
              <a:rPr dirty="0" sz="900" spc="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Router):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Bộ</a:t>
            </a:r>
            <a:r>
              <a:rPr dirty="0" sz="900" spc="10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định</a:t>
            </a:r>
            <a:r>
              <a:rPr dirty="0" sz="900" spc="5">
                <a:latin typeface="Microsoft Sans Serif"/>
                <a:cs typeface="Microsoft Sans Serif"/>
              </a:rPr>
              <a:t> </a:t>
            </a:r>
            <a:r>
              <a:rPr dirty="0" sz="900" spc="-10">
                <a:latin typeface="Microsoft Sans Serif"/>
                <a:cs typeface="Microsoft Sans Serif"/>
              </a:rPr>
              <a:t>tuyến</a:t>
            </a:r>
            <a:r>
              <a:rPr dirty="0" sz="900" spc="10">
                <a:latin typeface="Microsoft Sans Serif"/>
                <a:cs typeface="Microsoft Sans Serif"/>
              </a:rPr>
              <a:t> </a:t>
            </a:r>
            <a:r>
              <a:rPr dirty="0" sz="900" spc="-25">
                <a:latin typeface="Microsoft Sans Serif"/>
                <a:cs typeface="Microsoft Sans Serif"/>
              </a:rPr>
              <a:t>lõi </a:t>
            </a:r>
            <a:r>
              <a:rPr dirty="0" sz="900">
                <a:latin typeface="Microsoft Sans Serif"/>
                <a:cs typeface="Microsoft Sans Serif"/>
              </a:rPr>
              <a:t>trung</a:t>
            </a:r>
            <a:r>
              <a:rPr dirty="0" sz="900" spc="45">
                <a:latin typeface="Microsoft Sans Serif"/>
                <a:cs typeface="Microsoft Sans Serif"/>
              </a:rPr>
              <a:t> </a:t>
            </a:r>
            <a:r>
              <a:rPr dirty="0" sz="900" spc="-20">
                <a:latin typeface="Microsoft Sans Serif"/>
                <a:cs typeface="Microsoft Sans Serif"/>
              </a:rPr>
              <a:t>tâm.</a:t>
            </a:r>
            <a:endParaRPr sz="900">
              <a:latin typeface="Microsoft Sans Serif"/>
              <a:cs typeface="Microsoft Sans Serif"/>
            </a:endParaRPr>
          </a:p>
          <a:p>
            <a:pPr marL="12700" marR="24130">
              <a:lnSpc>
                <a:spcPct val="100000"/>
              </a:lnSpc>
              <a:spcBef>
                <a:spcPts val="315"/>
              </a:spcBef>
            </a:pPr>
            <a:r>
              <a:rPr dirty="0" sz="1000" spc="-10">
                <a:latin typeface="Tahoma"/>
                <a:cs typeface="Tahoma"/>
              </a:rPr>
              <a:t>Lưu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lượng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liên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chi</a:t>
            </a:r>
            <a:r>
              <a:rPr dirty="0" sz="1000" spc="-45">
                <a:latin typeface="Tahoma"/>
                <a:cs typeface="Tahoma"/>
              </a:rPr>
              <a:t> nhánh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bắt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buộc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đi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qua </a:t>
            </a:r>
            <a:r>
              <a:rPr dirty="0" sz="1000">
                <a:latin typeface="Tahoma"/>
                <a:cs typeface="Tahoma"/>
              </a:rPr>
              <a:t>lộ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trình: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CE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55">
                <a:latin typeface="Tahoma"/>
                <a:cs typeface="Tahoma"/>
              </a:rPr>
              <a:t>PE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80">
                <a:latin typeface="Tahoma"/>
                <a:cs typeface="Tahoma"/>
              </a:rPr>
              <a:t>P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55">
                <a:latin typeface="Tahoma"/>
                <a:cs typeface="Tahoma"/>
              </a:rPr>
              <a:t>PE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CE.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15" y="2191931"/>
            <a:ext cx="59613" cy="5961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88789" y="761822"/>
            <a:ext cx="2967854" cy="1756267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1" name="object 11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8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8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8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8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8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4.</a:t>
            </a:r>
            <a:r>
              <a:rPr dirty="0" spc="-60"/>
              <a:t> </a:t>
            </a:r>
            <a:r>
              <a:rPr dirty="0"/>
              <a:t>Cơ</a:t>
            </a:r>
            <a:r>
              <a:rPr dirty="0" spc="-55"/>
              <a:t> </a:t>
            </a:r>
            <a:r>
              <a:rPr dirty="0" spc="-35"/>
              <a:t>chế</a:t>
            </a:r>
            <a:r>
              <a:rPr dirty="0" spc="-50"/>
              <a:t> </a:t>
            </a:r>
            <a:r>
              <a:rPr dirty="0" spc="-10"/>
              <a:t>hoạt</a:t>
            </a:r>
            <a:r>
              <a:rPr dirty="0" spc="-60"/>
              <a:t> </a:t>
            </a:r>
            <a:r>
              <a:rPr dirty="0" spc="-55"/>
              <a:t>động </a:t>
            </a:r>
            <a:r>
              <a:rPr dirty="0" spc="-20"/>
              <a:t>của</a:t>
            </a:r>
            <a:r>
              <a:rPr dirty="0" spc="-55"/>
              <a:t> </a:t>
            </a:r>
            <a:r>
              <a:rPr dirty="0" spc="50"/>
              <a:t>MPLS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5691" y="1027099"/>
            <a:ext cx="5608955" cy="240029"/>
          </a:xfrm>
          <a:custGeom>
            <a:avLst/>
            <a:gdLst/>
            <a:ahLst/>
            <a:cxnLst/>
            <a:rect l="l" t="t" r="r" b="b"/>
            <a:pathLst>
              <a:path w="5608955" h="240030">
                <a:moveTo>
                  <a:pt x="555788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39607"/>
                </a:lnTo>
                <a:lnTo>
                  <a:pt x="5608682" y="239607"/>
                </a:lnTo>
                <a:lnTo>
                  <a:pt x="5608682" y="50800"/>
                </a:lnTo>
                <a:lnTo>
                  <a:pt x="5604674" y="31075"/>
                </a:lnTo>
                <a:lnTo>
                  <a:pt x="5593759" y="14922"/>
                </a:lnTo>
                <a:lnTo>
                  <a:pt x="5577606" y="4008"/>
                </a:lnTo>
                <a:lnTo>
                  <a:pt x="555788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6492" y="1028226"/>
            <a:ext cx="3329304" cy="22225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Quá</a:t>
            </a:r>
            <a:r>
              <a:rPr dirty="0" sz="12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trình</a:t>
            </a:r>
            <a:r>
              <a:rPr dirty="0" sz="12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Tahoma"/>
                <a:cs typeface="Tahoma"/>
              </a:rPr>
              <a:t>chuyển</a:t>
            </a:r>
            <a:r>
              <a:rPr dirty="0" sz="12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ahoma"/>
                <a:cs typeface="Tahoma"/>
              </a:rPr>
              <a:t>tiếp</a:t>
            </a:r>
            <a:r>
              <a:rPr dirty="0" sz="12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FFFFFF"/>
                </a:solidFill>
                <a:latin typeface="Tahoma"/>
                <a:cs typeface="Tahoma"/>
              </a:rPr>
              <a:t>bằng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Tahoma"/>
                <a:cs typeface="Tahoma"/>
              </a:rPr>
              <a:t>nhãn</a:t>
            </a:r>
            <a:r>
              <a:rPr dirty="0" sz="12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FFFFFF"/>
                </a:solidFill>
                <a:latin typeface="Tahoma"/>
                <a:cs typeface="Tahoma"/>
              </a:rPr>
              <a:t>(MPLS</a:t>
            </a:r>
            <a:r>
              <a:rPr dirty="0" sz="12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Tahoma"/>
                <a:cs typeface="Tahoma"/>
              </a:rPr>
              <a:t>Forwarding)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5691" y="1084022"/>
            <a:ext cx="5659755" cy="1198245"/>
            <a:chOff x="75691" y="1084022"/>
            <a:chExt cx="5659755" cy="119824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91" y="1254048"/>
              <a:ext cx="5608682" cy="5060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26492" y="1084022"/>
              <a:ext cx="5608955" cy="1198245"/>
            </a:xfrm>
            <a:custGeom>
              <a:avLst/>
              <a:gdLst/>
              <a:ahLst/>
              <a:cxnLst/>
              <a:rect l="l" t="t" r="r" b="b"/>
              <a:pathLst>
                <a:path w="5608955" h="1198245">
                  <a:moveTo>
                    <a:pt x="5608682" y="0"/>
                  </a:moveTo>
                  <a:lnTo>
                    <a:pt x="0" y="0"/>
                  </a:lnTo>
                  <a:lnTo>
                    <a:pt x="0" y="1198003"/>
                  </a:lnTo>
                  <a:lnTo>
                    <a:pt x="5608682" y="1198003"/>
                  </a:lnTo>
                  <a:lnTo>
                    <a:pt x="56086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691" y="1298324"/>
              <a:ext cx="5608955" cy="933450"/>
            </a:xfrm>
            <a:custGeom>
              <a:avLst/>
              <a:gdLst/>
              <a:ahLst/>
              <a:cxnLst/>
              <a:rect l="l" t="t" r="r" b="b"/>
              <a:pathLst>
                <a:path w="5608955" h="933450">
                  <a:moveTo>
                    <a:pt x="5608682" y="0"/>
                  </a:moveTo>
                  <a:lnTo>
                    <a:pt x="0" y="0"/>
                  </a:lnTo>
                  <a:lnTo>
                    <a:pt x="0" y="882099"/>
                  </a:lnTo>
                  <a:lnTo>
                    <a:pt x="4008" y="901824"/>
                  </a:lnTo>
                  <a:lnTo>
                    <a:pt x="14922" y="917977"/>
                  </a:lnTo>
                  <a:lnTo>
                    <a:pt x="31075" y="928891"/>
                  </a:lnTo>
                  <a:lnTo>
                    <a:pt x="50800" y="932900"/>
                  </a:lnTo>
                  <a:lnTo>
                    <a:pt x="5557882" y="932900"/>
                  </a:lnTo>
                  <a:lnTo>
                    <a:pt x="5577606" y="928891"/>
                  </a:lnTo>
                  <a:lnTo>
                    <a:pt x="5593759" y="917977"/>
                  </a:lnTo>
                  <a:lnTo>
                    <a:pt x="5604674" y="901824"/>
                  </a:lnTo>
                  <a:lnTo>
                    <a:pt x="5608682" y="882099"/>
                  </a:lnTo>
                  <a:lnTo>
                    <a:pt x="5608682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679" y="1561617"/>
              <a:ext cx="59613" cy="5961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679" y="1751406"/>
              <a:ext cx="59613" cy="5961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679" y="2093023"/>
              <a:ext cx="59613" cy="59613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13792" y="1256785"/>
            <a:ext cx="5520690" cy="93662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10">
                <a:latin typeface="Tahoma"/>
                <a:cs typeface="Tahoma"/>
              </a:rPr>
              <a:t>Thay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vì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định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tuyến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IP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qua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từng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chặng,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MPLS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chuyển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tiếp </a:t>
            </a:r>
            <a:r>
              <a:rPr dirty="0" sz="1000">
                <a:latin typeface="Tahoma"/>
                <a:cs typeface="Tahoma"/>
              </a:rPr>
              <a:t>gói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tin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nhanh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chóng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nhờ</a:t>
            </a:r>
            <a:r>
              <a:rPr dirty="0" sz="1000" spc="-10">
                <a:latin typeface="Tahoma"/>
                <a:cs typeface="Tahoma"/>
              </a:rPr>
              <a:t> nhãn: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 spc="-50" b="1">
                <a:latin typeface="Arial"/>
                <a:cs typeface="Arial"/>
              </a:rPr>
              <a:t>Ingress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PE: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Gán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nhãn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(Push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label)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vào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gói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tin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khi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đi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vào </a:t>
            </a:r>
            <a:r>
              <a:rPr dirty="0" sz="1000" spc="-45">
                <a:latin typeface="Tahoma"/>
                <a:cs typeface="Tahoma"/>
              </a:rPr>
              <a:t>mạng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lõi.</a:t>
            </a:r>
            <a:endParaRPr sz="1000">
              <a:latin typeface="Tahoma"/>
              <a:cs typeface="Tahoma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dirty="0" sz="1000" b="1">
                <a:latin typeface="Arial"/>
                <a:cs typeface="Arial"/>
              </a:rPr>
              <a:t>P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Router:</a:t>
            </a:r>
            <a:r>
              <a:rPr dirty="0" sz="1000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Hoán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đổi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nhãn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(Swap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label)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và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chuyển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tiếp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ở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Layer </a:t>
            </a:r>
            <a:r>
              <a:rPr dirty="0" sz="1000" spc="-25">
                <a:latin typeface="Tahoma"/>
                <a:cs typeface="Tahoma"/>
              </a:rPr>
              <a:t>2.5,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không </a:t>
            </a:r>
            <a:r>
              <a:rPr dirty="0" sz="1000" spc="-20">
                <a:latin typeface="Tahoma"/>
                <a:cs typeface="Tahoma"/>
              </a:rPr>
              <a:t>cần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tra</a:t>
            </a:r>
            <a:r>
              <a:rPr dirty="0" sz="1000" spc="-35">
                <a:latin typeface="Tahoma"/>
                <a:cs typeface="Tahoma"/>
              </a:rPr>
              <a:t> bảng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định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tuyến </a:t>
            </a:r>
            <a:r>
              <a:rPr dirty="0" sz="1000">
                <a:latin typeface="Tahoma"/>
                <a:cs typeface="Tahoma"/>
              </a:rPr>
              <a:t>IP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(tránh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overhead).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dirty="0" sz="1000" spc="-70" b="1">
                <a:latin typeface="Arial"/>
                <a:cs typeface="Arial"/>
              </a:rPr>
              <a:t>Egress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PE: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Gỡ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nhãn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(Pop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label)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và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đẩy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gói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tin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IP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chuẩn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về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mạng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đích</a:t>
            </a:r>
            <a:r>
              <a:rPr dirty="0" sz="1000" spc="-25">
                <a:latin typeface="Tahoma"/>
                <a:cs typeface="Tahoma"/>
              </a:rPr>
              <a:t> CE.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4" name="object 14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21087" y="306384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141470" y="305988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319272" y="305988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412450" y="3051006"/>
            <a:ext cx="203200" cy="55880"/>
            <a:chOff x="4412450" y="3051006"/>
            <a:chExt cx="203200" cy="55880"/>
          </a:xfrm>
        </p:grpSpPr>
        <p:sp>
          <p:nvSpPr>
            <p:cNvPr id="6" name="object 6" descr=""/>
            <p:cNvSpPr/>
            <p:nvPr/>
          </p:nvSpPr>
          <p:spPr>
            <a:xfrm>
              <a:off x="4475618" y="305353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12450" y="305988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4683417" y="3049740"/>
            <a:ext cx="203200" cy="58419"/>
            <a:chOff x="4683417" y="3049740"/>
            <a:chExt cx="203200" cy="58419"/>
          </a:xfrm>
        </p:grpSpPr>
        <p:sp>
          <p:nvSpPr>
            <p:cNvPr id="9" name="object 9" descr=""/>
            <p:cNvSpPr/>
            <p:nvPr/>
          </p:nvSpPr>
          <p:spPr>
            <a:xfrm>
              <a:off x="4772318" y="306623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83417" y="305988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759618" y="305353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4954397" y="3049740"/>
            <a:ext cx="203200" cy="58419"/>
            <a:chOff x="4954397" y="3049740"/>
            <a:chExt cx="203200" cy="58419"/>
          </a:xfrm>
        </p:grpSpPr>
        <p:sp>
          <p:nvSpPr>
            <p:cNvPr id="13" name="object 13" descr=""/>
            <p:cNvSpPr/>
            <p:nvPr/>
          </p:nvSpPr>
          <p:spPr>
            <a:xfrm>
              <a:off x="5030598" y="305353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954397" y="305988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30598" y="309163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5301577" y="305353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5478573" y="3051006"/>
            <a:ext cx="238760" cy="57150"/>
            <a:chOff x="5478573" y="3051006"/>
            <a:chExt cx="238760" cy="57150"/>
          </a:xfrm>
        </p:grpSpPr>
        <p:sp>
          <p:nvSpPr>
            <p:cNvPr id="18" name="object 18" descr=""/>
            <p:cNvSpPr/>
            <p:nvPr/>
          </p:nvSpPr>
          <p:spPr>
            <a:xfrm>
              <a:off x="5603025" y="3084016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575961" y="30575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481104" y="3053536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0" y="-12"/>
            <a:ext cx="5760085" cy="350520"/>
            <a:chOff x="0" y="-12"/>
            <a:chExt cx="5760085" cy="350520"/>
          </a:xfrm>
        </p:grpSpPr>
        <p:sp>
          <p:nvSpPr>
            <p:cNvPr id="22" name="object 22" descr=""/>
            <p:cNvSpPr/>
            <p:nvPr/>
          </p:nvSpPr>
          <p:spPr>
            <a:xfrm>
              <a:off x="0" y="-12"/>
              <a:ext cx="5760085" cy="350520"/>
            </a:xfrm>
            <a:custGeom>
              <a:avLst/>
              <a:gdLst/>
              <a:ahLst/>
              <a:cxnLst/>
              <a:rect l="l" t="t" r="r" b="b"/>
              <a:pathLst>
                <a:path w="5760085" h="350520">
                  <a:moveTo>
                    <a:pt x="5759996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5759996" y="350126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00" y="38785"/>
              <a:ext cx="269976" cy="26997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37286" y="59877"/>
            <a:ext cx="302958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4.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Minh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FFFFFF"/>
                </a:solidFill>
                <a:latin typeface="Tahoma"/>
                <a:cs typeface="Tahoma"/>
              </a:rPr>
              <a:t>chứng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hoạt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Tahoma"/>
                <a:cs typeface="Tahoma"/>
              </a:rPr>
              <a:t>động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FFFFFF"/>
                </a:solidFill>
                <a:latin typeface="Tahoma"/>
                <a:cs typeface="Tahoma"/>
              </a:rPr>
              <a:t>MPLS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thực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tế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679" y="506260"/>
            <a:ext cx="59613" cy="59613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366852" y="394989"/>
            <a:ext cx="5130800" cy="39751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000">
                <a:latin typeface="Tahoma"/>
                <a:cs typeface="Tahoma"/>
              </a:rPr>
              <a:t>Dự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án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triển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khai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 b="1">
                <a:latin typeface="Arial"/>
                <a:cs typeface="Arial"/>
              </a:rPr>
              <a:t>native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Linux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kernel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MPLS</a:t>
            </a:r>
            <a:r>
              <a:rPr dirty="0" sz="1000" spc="-2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00">
                <a:latin typeface="Tahoma"/>
                <a:cs typeface="Tahoma"/>
              </a:rPr>
              <a:t>Minh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chứng</a:t>
            </a:r>
            <a:r>
              <a:rPr dirty="0" sz="1000" spc="-10">
                <a:latin typeface="Tahoma"/>
                <a:cs typeface="Tahoma"/>
              </a:rPr>
              <a:t> thực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tế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qua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tcpdump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>
                <a:latin typeface="Tahoma"/>
                <a:cs typeface="Tahoma"/>
              </a:rPr>
              <a:t>bắt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được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gói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tin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có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chứa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Header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MPLS</a:t>
            </a:r>
            <a:r>
              <a:rPr dirty="0" sz="1000" spc="-10">
                <a:latin typeface="Tahoma"/>
                <a:cs typeface="Tahoma"/>
              </a:rPr>
              <a:t> và </a:t>
            </a:r>
            <a:r>
              <a:rPr dirty="0" sz="1000" spc="-40">
                <a:latin typeface="Tahoma"/>
                <a:cs typeface="Tahoma"/>
              </a:rPr>
              <a:t>ethertype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0x8847</a:t>
            </a:r>
            <a:r>
              <a:rPr dirty="0" sz="1000" spc="-1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679" y="692276"/>
            <a:ext cx="59613" cy="59613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3976" y="1035421"/>
            <a:ext cx="4053429" cy="1877823"/>
          </a:xfrm>
          <a:prstGeom prst="rect">
            <a:avLst/>
          </a:prstGeom>
        </p:spPr>
      </p:pic>
      <p:grpSp>
        <p:nvGrpSpPr>
          <p:cNvPr id="29" name="object 29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30" name="object 30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34" name="object 34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5.</a:t>
            </a:r>
            <a:r>
              <a:rPr dirty="0" spc="-45"/>
              <a:t> </a:t>
            </a:r>
            <a:r>
              <a:rPr dirty="0" spc="-10"/>
              <a:t>Giao</a:t>
            </a:r>
            <a:r>
              <a:rPr dirty="0" spc="-40"/>
              <a:t> </a:t>
            </a:r>
            <a:r>
              <a:rPr dirty="0" spc="-20"/>
              <a:t>thức</a:t>
            </a:r>
            <a:r>
              <a:rPr dirty="0" spc="-40"/>
              <a:t> </a:t>
            </a:r>
            <a:r>
              <a:rPr dirty="0" spc="-50"/>
              <a:t>điều</a:t>
            </a:r>
            <a:r>
              <a:rPr dirty="0" spc="-40"/>
              <a:t> </a:t>
            </a:r>
            <a:r>
              <a:rPr dirty="0" spc="-35"/>
              <a:t>khiển</a:t>
            </a:r>
            <a:r>
              <a:rPr dirty="0" spc="-40"/>
              <a:t> </a:t>
            </a:r>
            <a:r>
              <a:rPr dirty="0" spc="-30"/>
              <a:t>(Control-</a:t>
            </a:r>
            <a:r>
              <a:rPr dirty="0" spc="-10"/>
              <a:t>Plane)</a:t>
            </a:r>
            <a:r>
              <a:rPr dirty="0" spc="-40"/>
              <a:t> </a:t>
            </a:r>
            <a:r>
              <a:rPr dirty="0" spc="120"/>
              <a:t>&amp;</a:t>
            </a:r>
            <a:r>
              <a:rPr dirty="0" spc="-45"/>
              <a:t> </a:t>
            </a:r>
            <a:r>
              <a:rPr dirty="0" spc="-10"/>
              <a:t>L2VPN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15" y="1452029"/>
            <a:ext cx="59613" cy="5961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15" y="1641817"/>
            <a:ext cx="59613" cy="5961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1627" y="1147197"/>
            <a:ext cx="2749550" cy="7467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20" b="1">
                <a:latin typeface="Arial"/>
                <a:cs typeface="Arial"/>
              </a:rPr>
              <a:t>FRRouting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(OSPF/LDP)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Tahoma"/>
                <a:cs typeface="Tahoma"/>
              </a:rPr>
              <a:t>Sử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dụng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OSPF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định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tuyến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Underlay.</a:t>
            </a:r>
            <a:endParaRPr sz="1000">
              <a:latin typeface="Tahoma"/>
              <a:cs typeface="Tahoma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Tahoma"/>
                <a:cs typeface="Tahoma"/>
              </a:rPr>
              <a:t>Sử </a:t>
            </a:r>
            <a:r>
              <a:rPr dirty="0" sz="1000" spc="-35">
                <a:latin typeface="Tahoma"/>
                <a:cs typeface="Tahoma"/>
              </a:rPr>
              <a:t>dụng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LDP </a:t>
            </a:r>
            <a:r>
              <a:rPr dirty="0" sz="1000" spc="-10">
                <a:latin typeface="Tahoma"/>
                <a:cs typeface="Tahoma"/>
              </a:rPr>
              <a:t>(Label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Distribution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Protocol) </a:t>
            </a:r>
            <a:r>
              <a:rPr dirty="0" sz="1000" spc="-25">
                <a:latin typeface="Tahoma"/>
                <a:cs typeface="Tahoma"/>
              </a:rPr>
              <a:t>để </a:t>
            </a:r>
            <a:r>
              <a:rPr dirty="0" sz="1000" spc="-40">
                <a:latin typeface="Tahoma"/>
                <a:cs typeface="Tahoma"/>
              </a:rPr>
              <a:t>phân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bổ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nhãn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động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trên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55">
                <a:latin typeface="Tahoma"/>
                <a:cs typeface="Tahoma"/>
              </a:rPr>
              <a:t>PE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và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80">
                <a:latin typeface="Tahoma"/>
                <a:cs typeface="Tahoma"/>
              </a:rPr>
              <a:t>P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router.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2343" y="1376108"/>
            <a:ext cx="59613" cy="5961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2343" y="1717738"/>
            <a:ext cx="59613" cy="5961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909468" y="1071289"/>
            <a:ext cx="2703830" cy="89852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b="1">
                <a:latin typeface="Arial"/>
                <a:cs typeface="Arial"/>
              </a:rPr>
              <a:t>VPLS/L2VPN</a:t>
            </a:r>
            <a:r>
              <a:rPr dirty="0" sz="1000" spc="114" b="1">
                <a:latin typeface="Arial"/>
                <a:cs typeface="Arial"/>
              </a:rPr>
              <a:t>  </a:t>
            </a:r>
            <a:r>
              <a:rPr dirty="0" sz="1000" spc="-10" b="1">
                <a:latin typeface="Arial"/>
                <a:cs typeface="Arial"/>
              </a:rPr>
              <a:t>Data-plane</a:t>
            </a:r>
            <a:endParaRPr sz="1000">
              <a:latin typeface="Arial"/>
              <a:cs typeface="Arial"/>
            </a:endParaRPr>
          </a:p>
          <a:p>
            <a:pPr marL="265430" marR="158115">
              <a:lnSpc>
                <a:spcPct val="100000"/>
              </a:lnSpc>
              <a:spcBef>
                <a:spcPts val="295"/>
              </a:spcBef>
            </a:pPr>
            <a:r>
              <a:rPr dirty="0" sz="1000">
                <a:latin typeface="Tahoma"/>
                <a:cs typeface="Tahoma"/>
              </a:rPr>
              <a:t>Các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chi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nhánh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kết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nối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ở</a:t>
            </a:r>
            <a:r>
              <a:rPr dirty="0" sz="1000" spc="-35">
                <a:latin typeface="Tahoma"/>
                <a:cs typeface="Tahoma"/>
              </a:rPr>
              <a:t> Layer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thông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qua </a:t>
            </a:r>
            <a:r>
              <a:rPr dirty="0" sz="1000" spc="-10">
                <a:latin typeface="Tahoma"/>
                <a:cs typeface="Tahoma"/>
              </a:rPr>
              <a:t>dịch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vụ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VPLS.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ts val="1200"/>
              </a:lnSpc>
              <a:spcBef>
                <a:spcPts val="290"/>
              </a:spcBef>
            </a:pPr>
            <a:r>
              <a:rPr dirty="0" sz="1000" spc="-10">
                <a:latin typeface="Tahoma"/>
                <a:cs typeface="Tahoma"/>
              </a:rPr>
              <a:t>Hiện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thực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bằng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 b="1">
                <a:latin typeface="Arial"/>
                <a:cs typeface="Arial"/>
              </a:rPr>
              <a:t>Linux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GRETAP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45" b="1">
                <a:latin typeface="Arial"/>
                <a:cs typeface="Arial"/>
              </a:rPr>
              <a:t>pseudowire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ts val="1200"/>
              </a:lnSpc>
            </a:pPr>
            <a:r>
              <a:rPr dirty="0" sz="1000" spc="-10">
                <a:latin typeface="Tahoma"/>
                <a:cs typeface="Tahoma"/>
              </a:rPr>
              <a:t>với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tính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năng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split-horizon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để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ngăn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vòng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lặp.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10" name="object 10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286" y="59877"/>
            <a:ext cx="3380104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6.</a:t>
            </a:r>
            <a:r>
              <a:rPr dirty="0" spc="-15"/>
              <a:t> </a:t>
            </a:r>
            <a:r>
              <a:rPr dirty="0"/>
              <a:t>Kịch</a:t>
            </a:r>
            <a:r>
              <a:rPr dirty="0" spc="-15"/>
              <a:t> </a:t>
            </a:r>
            <a:r>
              <a:rPr dirty="0" spc="-30"/>
              <a:t>bản</a:t>
            </a:r>
            <a:r>
              <a:rPr dirty="0" spc="-15"/>
              <a:t> </a:t>
            </a:r>
            <a:r>
              <a:rPr dirty="0"/>
              <a:t>Đo</a:t>
            </a:r>
            <a:r>
              <a:rPr dirty="0" spc="-15"/>
              <a:t> </a:t>
            </a:r>
            <a:r>
              <a:rPr dirty="0" spc="-65"/>
              <a:t>lường</a:t>
            </a:r>
            <a:r>
              <a:rPr dirty="0" spc="-20"/>
              <a:t> </a:t>
            </a:r>
            <a:r>
              <a:rPr dirty="0" spc="120"/>
              <a:t>&amp;</a:t>
            </a:r>
            <a:r>
              <a:rPr dirty="0" spc="-20"/>
              <a:t> </a:t>
            </a:r>
            <a:r>
              <a:rPr dirty="0"/>
              <a:t>Phân</a:t>
            </a:r>
            <a:r>
              <a:rPr dirty="0" spc="-15"/>
              <a:t> </a:t>
            </a:r>
            <a:r>
              <a:rPr dirty="0"/>
              <a:t>tích</a:t>
            </a:r>
            <a:r>
              <a:rPr dirty="0" spc="-15"/>
              <a:t> </a:t>
            </a:r>
            <a:r>
              <a:rPr dirty="0" spc="-40"/>
              <a:t>hiệu</a:t>
            </a:r>
            <a:r>
              <a:rPr dirty="0" spc="-15"/>
              <a:t> </a:t>
            </a:r>
            <a:r>
              <a:rPr dirty="0" spc="-25"/>
              <a:t>năng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679" y="1359573"/>
            <a:ext cx="59613" cy="5961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679" y="1549361"/>
            <a:ext cx="59613" cy="5961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679" y="1739150"/>
            <a:ext cx="59613" cy="5961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679" y="1928926"/>
            <a:ext cx="59613" cy="59613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Sử</a:t>
            </a:r>
            <a:r>
              <a:rPr dirty="0" spc="-80"/>
              <a:t> </a:t>
            </a:r>
            <a:r>
              <a:rPr dirty="0" spc="-35"/>
              <a:t>dụng</a:t>
            </a:r>
            <a:r>
              <a:rPr dirty="0" spc="-40"/>
              <a:t> </a:t>
            </a:r>
            <a:r>
              <a:rPr dirty="0" spc="-10"/>
              <a:t>các</a:t>
            </a:r>
            <a:r>
              <a:rPr dirty="0" spc="-40"/>
              <a:t> </a:t>
            </a:r>
            <a:r>
              <a:rPr dirty="0" spc="-35"/>
              <a:t>công</a:t>
            </a:r>
            <a:r>
              <a:rPr dirty="0" spc="-45"/>
              <a:t> </a:t>
            </a:r>
            <a:r>
              <a:rPr dirty="0"/>
              <a:t>cụ</a:t>
            </a:r>
            <a:r>
              <a:rPr dirty="0" spc="-40"/>
              <a:t> </a:t>
            </a:r>
            <a:r>
              <a:rPr dirty="0" spc="-20" b="1">
                <a:latin typeface="Arial"/>
                <a:cs typeface="Arial"/>
              </a:rPr>
              <a:t>ping,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traceroute,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iperf3</a:t>
            </a:r>
            <a:r>
              <a:rPr dirty="0" b="1">
                <a:latin typeface="Arial"/>
                <a:cs typeface="Arial"/>
              </a:rPr>
              <a:t> </a:t>
            </a:r>
            <a:r>
              <a:rPr dirty="0" spc="-50"/>
              <a:t>để</a:t>
            </a:r>
            <a:r>
              <a:rPr dirty="0" spc="-30"/>
              <a:t> </a:t>
            </a:r>
            <a:r>
              <a:rPr dirty="0" spc="-55"/>
              <a:t>đánh</a:t>
            </a:r>
            <a:r>
              <a:rPr dirty="0" spc="-20"/>
              <a:t> </a:t>
            </a:r>
            <a:r>
              <a:rPr dirty="0" spc="-10"/>
              <a:t>giá</a:t>
            </a:r>
            <a:r>
              <a:rPr dirty="0" spc="-45"/>
              <a:t> </a:t>
            </a:r>
            <a:r>
              <a:rPr dirty="0"/>
              <a:t>4</a:t>
            </a:r>
            <a:r>
              <a:rPr dirty="0" spc="-45"/>
              <a:t> </a:t>
            </a:r>
            <a:r>
              <a:rPr dirty="0"/>
              <a:t>chỉ</a:t>
            </a:r>
            <a:r>
              <a:rPr dirty="0" spc="-40"/>
              <a:t> </a:t>
            </a:r>
            <a:r>
              <a:rPr dirty="0" spc="-20"/>
              <a:t>số</a:t>
            </a:r>
            <a:r>
              <a:rPr dirty="0" spc="-40"/>
              <a:t> </a:t>
            </a:r>
            <a:r>
              <a:rPr dirty="0" spc="-10"/>
              <a:t>chính:</a:t>
            </a:r>
          </a:p>
          <a:p>
            <a:pPr marL="265430">
              <a:lnSpc>
                <a:spcPct val="100000"/>
              </a:lnSpc>
              <a:spcBef>
                <a:spcPts val="1145"/>
              </a:spcBef>
            </a:pPr>
            <a:r>
              <a:rPr dirty="0" b="1">
                <a:latin typeface="Arial"/>
                <a:cs typeface="Arial"/>
              </a:rPr>
              <a:t>Thông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spc="-65" b="1">
                <a:latin typeface="Arial"/>
                <a:cs typeface="Arial"/>
              </a:rPr>
              <a:t>lượng</a:t>
            </a:r>
            <a:r>
              <a:rPr dirty="0" spc="3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(Throughput):</a:t>
            </a:r>
            <a:r>
              <a:rPr dirty="0" b="1">
                <a:latin typeface="Arial"/>
                <a:cs typeface="Arial"/>
              </a:rPr>
              <a:t> </a:t>
            </a:r>
            <a:r>
              <a:rPr dirty="0"/>
              <a:t>Khả</a:t>
            </a:r>
            <a:r>
              <a:rPr dirty="0" spc="-35"/>
              <a:t> năng truyền</a:t>
            </a:r>
            <a:r>
              <a:rPr dirty="0" spc="-40"/>
              <a:t> </a:t>
            </a:r>
            <a:r>
              <a:rPr dirty="0"/>
              <a:t>tải</a:t>
            </a:r>
            <a:r>
              <a:rPr dirty="0" spc="-35"/>
              <a:t> </a:t>
            </a:r>
            <a:r>
              <a:rPr dirty="0"/>
              <a:t>tối</a:t>
            </a:r>
            <a:r>
              <a:rPr dirty="0" spc="-35"/>
              <a:t> </a:t>
            </a:r>
            <a:r>
              <a:rPr dirty="0" spc="-25"/>
              <a:t>đa.</a:t>
            </a: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b="1">
                <a:latin typeface="Arial"/>
                <a:cs typeface="Arial"/>
              </a:rPr>
              <a:t>Độ</a:t>
            </a:r>
            <a:r>
              <a:rPr dirty="0" spc="7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trễ</a:t>
            </a:r>
            <a:r>
              <a:rPr dirty="0" spc="7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(Delay</a:t>
            </a:r>
            <a:r>
              <a:rPr dirty="0" spc="70" b="1">
                <a:latin typeface="Arial"/>
                <a:cs typeface="Arial"/>
              </a:rPr>
              <a:t> </a:t>
            </a:r>
            <a:r>
              <a:rPr dirty="0" spc="270" b="1">
                <a:latin typeface="Arial"/>
                <a:cs typeface="Arial"/>
              </a:rPr>
              <a:t>/</a:t>
            </a:r>
            <a:r>
              <a:rPr dirty="0" spc="7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RTT):</a:t>
            </a:r>
            <a:r>
              <a:rPr dirty="0" spc="40" b="1">
                <a:latin typeface="Arial"/>
                <a:cs typeface="Arial"/>
              </a:rPr>
              <a:t> </a:t>
            </a:r>
            <a:r>
              <a:rPr dirty="0"/>
              <a:t>Thời</a:t>
            </a:r>
            <a:r>
              <a:rPr dirty="0" spc="5"/>
              <a:t> </a:t>
            </a:r>
            <a:r>
              <a:rPr dirty="0" spc="-25"/>
              <a:t>gian</a:t>
            </a:r>
            <a:r>
              <a:rPr dirty="0"/>
              <a:t> gói</a:t>
            </a:r>
            <a:r>
              <a:rPr dirty="0" spc="10"/>
              <a:t> </a:t>
            </a:r>
            <a:r>
              <a:rPr dirty="0"/>
              <a:t>tin đi</a:t>
            </a:r>
            <a:r>
              <a:rPr dirty="0" spc="5"/>
              <a:t> </a:t>
            </a:r>
            <a:r>
              <a:rPr dirty="0" spc="-10"/>
              <a:t>và</a:t>
            </a:r>
            <a:r>
              <a:rPr dirty="0"/>
              <a:t> </a:t>
            </a:r>
            <a:r>
              <a:rPr dirty="0" spc="-25"/>
              <a:t>về.</a:t>
            </a: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dirty="0" b="1">
                <a:latin typeface="Arial"/>
                <a:cs typeface="Arial"/>
              </a:rPr>
              <a:t>Độ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biến</a:t>
            </a:r>
            <a:r>
              <a:rPr dirty="0" spc="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thiên</a:t>
            </a:r>
            <a:r>
              <a:rPr dirty="0" spc="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trễ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(Jitter):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/>
              <a:t>Sự</a:t>
            </a:r>
            <a:r>
              <a:rPr dirty="0" spc="-30"/>
              <a:t> </a:t>
            </a:r>
            <a:r>
              <a:rPr dirty="0" spc="-20"/>
              <a:t>dao </a:t>
            </a:r>
            <a:r>
              <a:rPr dirty="0" spc="-50"/>
              <a:t>động</a:t>
            </a:r>
            <a:r>
              <a:rPr dirty="0" spc="-25"/>
              <a:t> </a:t>
            </a:r>
            <a:r>
              <a:rPr dirty="0" spc="-30"/>
              <a:t>của</a:t>
            </a:r>
            <a:r>
              <a:rPr dirty="0" spc="-25"/>
              <a:t> </a:t>
            </a:r>
            <a:r>
              <a:rPr dirty="0" spc="-10"/>
              <a:t>độ</a:t>
            </a:r>
            <a:r>
              <a:rPr dirty="0" spc="-30"/>
              <a:t> </a:t>
            </a:r>
            <a:r>
              <a:rPr dirty="0"/>
              <a:t>trễ</a:t>
            </a:r>
            <a:r>
              <a:rPr dirty="0" spc="-25"/>
              <a:t> </a:t>
            </a:r>
            <a:r>
              <a:rPr dirty="0" spc="-20"/>
              <a:t>trong</a:t>
            </a:r>
            <a:r>
              <a:rPr dirty="0" spc="-25"/>
              <a:t> </a:t>
            </a:r>
            <a:r>
              <a:rPr dirty="0" spc="-35"/>
              <a:t>truyền</a:t>
            </a:r>
            <a:r>
              <a:rPr dirty="0" spc="-30"/>
              <a:t> </a:t>
            </a:r>
            <a:r>
              <a:rPr dirty="0"/>
              <a:t>tải</a:t>
            </a:r>
            <a:r>
              <a:rPr dirty="0" spc="-20"/>
              <a:t> UDP.</a:t>
            </a:r>
          </a:p>
          <a:p>
            <a:pPr marL="265430" marR="5080">
              <a:lnSpc>
                <a:spcPct val="100000"/>
              </a:lnSpc>
              <a:spcBef>
                <a:spcPts val="295"/>
              </a:spcBef>
            </a:pPr>
            <a:r>
              <a:rPr dirty="0" spc="-20" b="1">
                <a:latin typeface="Arial"/>
                <a:cs typeface="Arial"/>
              </a:rPr>
              <a:t>Suy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hao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gói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tin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(Packet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spc="-55" b="1">
                <a:latin typeface="Arial"/>
                <a:cs typeface="Arial"/>
              </a:rPr>
              <a:t>Loss):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/>
              <a:t>Tỉ</a:t>
            </a:r>
            <a:r>
              <a:rPr dirty="0" spc="-40"/>
              <a:t> </a:t>
            </a:r>
            <a:r>
              <a:rPr dirty="0"/>
              <a:t>lệ</a:t>
            </a:r>
            <a:r>
              <a:rPr dirty="0" spc="-35"/>
              <a:t> </a:t>
            </a:r>
            <a:r>
              <a:rPr dirty="0"/>
              <a:t>gói</a:t>
            </a:r>
            <a:r>
              <a:rPr dirty="0" spc="-40"/>
              <a:t> </a:t>
            </a:r>
            <a:r>
              <a:rPr dirty="0"/>
              <a:t>tin</a:t>
            </a:r>
            <a:r>
              <a:rPr dirty="0" spc="-40"/>
              <a:t> </a:t>
            </a:r>
            <a:r>
              <a:rPr dirty="0"/>
              <a:t>bị</a:t>
            </a:r>
            <a:r>
              <a:rPr dirty="0" spc="-35"/>
              <a:t> </a:t>
            </a:r>
            <a:r>
              <a:rPr dirty="0" spc="-10"/>
              <a:t>mất,</a:t>
            </a:r>
            <a:r>
              <a:rPr dirty="0" spc="-40"/>
              <a:t> </a:t>
            </a:r>
            <a:r>
              <a:rPr dirty="0" spc="-25"/>
              <a:t>đặc</a:t>
            </a:r>
            <a:r>
              <a:rPr dirty="0" spc="-40"/>
              <a:t> </a:t>
            </a:r>
            <a:r>
              <a:rPr dirty="0" spc="-10"/>
              <a:t>biệt</a:t>
            </a:r>
            <a:r>
              <a:rPr dirty="0" spc="-40"/>
              <a:t> </a:t>
            </a:r>
            <a:r>
              <a:rPr dirty="0" spc="-10"/>
              <a:t>đo</a:t>
            </a:r>
            <a:r>
              <a:rPr dirty="0" spc="-35"/>
              <a:t> </a:t>
            </a:r>
            <a:r>
              <a:rPr dirty="0" spc="-20"/>
              <a:t>trong</a:t>
            </a:r>
            <a:r>
              <a:rPr dirty="0" spc="-35"/>
              <a:t> </a:t>
            </a:r>
            <a:r>
              <a:rPr dirty="0"/>
              <a:t>kịch</a:t>
            </a:r>
            <a:r>
              <a:rPr dirty="0" spc="-40"/>
              <a:t> </a:t>
            </a:r>
            <a:r>
              <a:rPr dirty="0" spc="-25"/>
              <a:t>bản</a:t>
            </a:r>
            <a:r>
              <a:rPr dirty="0" spc="-45"/>
              <a:t> </a:t>
            </a:r>
            <a:r>
              <a:rPr dirty="0" spc="-20"/>
              <a:t>tăng</a:t>
            </a:r>
            <a:r>
              <a:rPr dirty="0" spc="-35"/>
              <a:t> </a:t>
            </a:r>
            <a:r>
              <a:rPr dirty="0"/>
              <a:t>tải</a:t>
            </a:r>
            <a:r>
              <a:rPr dirty="0" spc="-35"/>
              <a:t> </a:t>
            </a:r>
            <a:r>
              <a:rPr dirty="0" spc="-10"/>
              <a:t>liên</a:t>
            </a:r>
            <a:r>
              <a:rPr dirty="0" spc="-40"/>
              <a:t> </a:t>
            </a:r>
            <a:r>
              <a:rPr dirty="0" spc="-25"/>
              <a:t>tục </a:t>
            </a:r>
            <a:r>
              <a:rPr dirty="0"/>
              <a:t>(UDP</a:t>
            </a:r>
            <a:r>
              <a:rPr dirty="0" spc="55"/>
              <a:t> </a:t>
            </a:r>
            <a:r>
              <a:rPr dirty="0" spc="-10"/>
              <a:t>Load</a:t>
            </a:r>
            <a:r>
              <a:rPr dirty="0" spc="60"/>
              <a:t> </a:t>
            </a:r>
            <a:r>
              <a:rPr dirty="0" spc="-10"/>
              <a:t>Sweep).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9" name="object 9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6.</a:t>
            </a:r>
            <a:r>
              <a:rPr dirty="0" spc="-25"/>
              <a:t> </a:t>
            </a:r>
            <a:r>
              <a:rPr dirty="0"/>
              <a:t>Kết</a:t>
            </a:r>
            <a:r>
              <a:rPr dirty="0" spc="-20"/>
              <a:t> </a:t>
            </a:r>
            <a:r>
              <a:rPr dirty="0" spc="-35"/>
              <a:t>quả</a:t>
            </a:r>
            <a:r>
              <a:rPr dirty="0" spc="-25"/>
              <a:t> </a:t>
            </a:r>
            <a:r>
              <a:rPr dirty="0"/>
              <a:t>Thông</a:t>
            </a:r>
            <a:r>
              <a:rPr dirty="0" spc="-20"/>
              <a:t> </a:t>
            </a:r>
            <a:r>
              <a:rPr dirty="0" spc="-65"/>
              <a:t>lượng</a:t>
            </a:r>
            <a:r>
              <a:rPr dirty="0" spc="-25"/>
              <a:t> </a:t>
            </a:r>
            <a:r>
              <a:rPr dirty="0" spc="120"/>
              <a:t>&amp;</a:t>
            </a:r>
            <a:r>
              <a:rPr dirty="0" spc="-25"/>
              <a:t> </a:t>
            </a:r>
            <a:r>
              <a:rPr dirty="0"/>
              <a:t>Độ</a:t>
            </a:r>
            <a:r>
              <a:rPr dirty="0" spc="-20"/>
              <a:t> </a:t>
            </a:r>
            <a:r>
              <a:rPr dirty="0" spc="-25"/>
              <a:t>trễ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7707" y="628032"/>
            <a:ext cx="16065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Thông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65" b="1">
                <a:latin typeface="Arial"/>
                <a:cs typeface="Arial"/>
              </a:rPr>
              <a:t>lượng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(Throughput)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255" y="923295"/>
            <a:ext cx="2374078" cy="129258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57523" y="637265"/>
            <a:ext cx="8832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Độ</a:t>
            </a:r>
            <a:r>
              <a:rPr dirty="0" sz="1000" spc="8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trễ</a:t>
            </a:r>
            <a:r>
              <a:rPr dirty="0" sz="1000" spc="8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(Delay)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4096" y="932528"/>
            <a:ext cx="2374078" cy="129258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13792" y="2397767"/>
            <a:ext cx="5458460" cy="30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dirty="0" sz="900" spc="-30">
                <a:latin typeface="Microsoft Sans Serif"/>
                <a:cs typeface="Microsoft Sans Serif"/>
              </a:rPr>
              <a:t>Giao</a:t>
            </a:r>
            <a:r>
              <a:rPr dirty="0" sz="900" spc="-10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tiếp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nội</a:t>
            </a:r>
            <a:r>
              <a:rPr dirty="0" sz="900" spc="20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bộ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chi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 spc="-25">
                <a:latin typeface="Microsoft Sans Serif"/>
                <a:cs typeface="Microsoft Sans Serif"/>
              </a:rPr>
              <a:t>nhánh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có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tốc</a:t>
            </a:r>
            <a:r>
              <a:rPr dirty="0" sz="900" spc="20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độ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rất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 spc="-25">
                <a:latin typeface="Microsoft Sans Serif"/>
                <a:cs typeface="Microsoft Sans Serif"/>
              </a:rPr>
              <a:t>cao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(</a:t>
            </a:r>
            <a:r>
              <a:rPr dirty="0" sz="900" i="1">
                <a:latin typeface="Verdana"/>
                <a:cs typeface="Verdana"/>
              </a:rPr>
              <a:t>&gt;</a:t>
            </a:r>
            <a:r>
              <a:rPr dirty="0" sz="900" spc="-75" i="1">
                <a:latin typeface="Verdana"/>
                <a:cs typeface="Verdana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94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Mbps)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và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trễ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thấp.</a:t>
            </a:r>
            <a:r>
              <a:rPr dirty="0" sz="900" spc="20">
                <a:latin typeface="Microsoft Sans Serif"/>
                <a:cs typeface="Microsoft Sans Serif"/>
              </a:rPr>
              <a:t> </a:t>
            </a:r>
            <a:r>
              <a:rPr dirty="0" sz="900" spc="-30">
                <a:latin typeface="Microsoft Sans Serif"/>
                <a:cs typeface="Microsoft Sans Serif"/>
              </a:rPr>
              <a:t>Giao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tiếp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liên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chi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 spc="-20">
                <a:latin typeface="Microsoft Sans Serif"/>
                <a:cs typeface="Microsoft Sans Serif"/>
              </a:rPr>
              <a:t>nhánh</a:t>
            </a:r>
            <a:r>
              <a:rPr dirty="0" sz="900" spc="20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bị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giới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 spc="-10">
                <a:latin typeface="Microsoft Sans Serif"/>
                <a:cs typeface="Microsoft Sans Serif"/>
              </a:rPr>
              <a:t>hạn</a:t>
            </a:r>
            <a:r>
              <a:rPr dirty="0" sz="900" spc="15">
                <a:latin typeface="Microsoft Sans Serif"/>
                <a:cs typeface="Microsoft Sans Serif"/>
              </a:rPr>
              <a:t> </a:t>
            </a:r>
            <a:r>
              <a:rPr dirty="0" sz="900" spc="-25">
                <a:latin typeface="Microsoft Sans Serif"/>
                <a:cs typeface="Microsoft Sans Serif"/>
              </a:rPr>
              <a:t>bởi năng</a:t>
            </a:r>
            <a:r>
              <a:rPr dirty="0" sz="900">
                <a:latin typeface="Microsoft Sans Serif"/>
                <a:cs typeface="Microsoft Sans Serif"/>
              </a:rPr>
              <a:t> lực </a:t>
            </a:r>
            <a:r>
              <a:rPr dirty="0" sz="900" spc="-25">
                <a:latin typeface="Microsoft Sans Serif"/>
                <a:cs typeface="Microsoft Sans Serif"/>
              </a:rPr>
              <a:t>mạng</a:t>
            </a:r>
            <a:r>
              <a:rPr dirty="0" sz="900">
                <a:latin typeface="Microsoft Sans Serif"/>
                <a:cs typeface="Microsoft Sans Serif"/>
              </a:rPr>
              <a:t> </a:t>
            </a:r>
            <a:r>
              <a:rPr dirty="0" sz="900" spc="-35">
                <a:latin typeface="Microsoft Sans Serif"/>
                <a:cs typeface="Microsoft Sans Serif"/>
              </a:rPr>
              <a:t>backbone</a:t>
            </a:r>
            <a:r>
              <a:rPr dirty="0" sz="900" spc="5">
                <a:latin typeface="Microsoft Sans Serif"/>
                <a:cs typeface="Microsoft Sans Serif"/>
              </a:rPr>
              <a:t> </a:t>
            </a:r>
            <a:r>
              <a:rPr dirty="0" sz="900" spc="-30">
                <a:latin typeface="Microsoft Sans Serif"/>
                <a:cs typeface="Microsoft Sans Serif"/>
              </a:rPr>
              <a:t>(50-</a:t>
            </a:r>
            <a:r>
              <a:rPr dirty="0" sz="900">
                <a:latin typeface="Microsoft Sans Serif"/>
                <a:cs typeface="Microsoft Sans Serif"/>
              </a:rPr>
              <a:t>60 Mbps) và</a:t>
            </a:r>
            <a:r>
              <a:rPr dirty="0" sz="900" spc="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có trễ </a:t>
            </a:r>
            <a:r>
              <a:rPr dirty="0" sz="900" spc="-25">
                <a:latin typeface="Microsoft Sans Serif"/>
                <a:cs typeface="Microsoft Sans Serif"/>
              </a:rPr>
              <a:t>cao</a:t>
            </a:r>
            <a:r>
              <a:rPr dirty="0" sz="900" spc="5">
                <a:latin typeface="Microsoft Sans Serif"/>
                <a:cs typeface="Microsoft Sans Serif"/>
              </a:rPr>
              <a:t> </a:t>
            </a:r>
            <a:r>
              <a:rPr dirty="0" sz="900">
                <a:latin typeface="Microsoft Sans Serif"/>
                <a:cs typeface="Microsoft Sans Serif"/>
              </a:rPr>
              <a:t>hơn do đi </a:t>
            </a:r>
            <a:r>
              <a:rPr dirty="0" sz="900" spc="-10">
                <a:latin typeface="Microsoft Sans Serif"/>
                <a:cs typeface="Microsoft Sans Serif"/>
              </a:rPr>
              <a:t>qua</a:t>
            </a:r>
            <a:r>
              <a:rPr dirty="0" sz="900" spc="5">
                <a:latin typeface="Microsoft Sans Serif"/>
                <a:cs typeface="Microsoft Sans Serif"/>
              </a:rPr>
              <a:t> </a:t>
            </a:r>
            <a:r>
              <a:rPr dirty="0" sz="900" spc="-20">
                <a:latin typeface="Microsoft Sans Serif"/>
                <a:cs typeface="Microsoft Sans Serif"/>
              </a:rPr>
              <a:t>nhiều</a:t>
            </a:r>
            <a:r>
              <a:rPr dirty="0" sz="900">
                <a:latin typeface="Microsoft Sans Serif"/>
                <a:cs typeface="Microsoft Sans Serif"/>
              </a:rPr>
              <a:t> </a:t>
            </a:r>
            <a:r>
              <a:rPr dirty="0" sz="900" spc="-20">
                <a:latin typeface="Microsoft Sans Serif"/>
                <a:cs typeface="Microsoft Sans Serif"/>
              </a:rPr>
              <a:t>hop.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9" name="object 9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6.</a:t>
            </a:r>
            <a:r>
              <a:rPr dirty="0" spc="-60"/>
              <a:t> </a:t>
            </a:r>
            <a:r>
              <a:rPr dirty="0" spc="-10"/>
              <a:t>Đánh</a:t>
            </a:r>
            <a:r>
              <a:rPr dirty="0" spc="-50"/>
              <a:t> </a:t>
            </a:r>
            <a:r>
              <a:rPr dirty="0" spc="-20"/>
              <a:t>giá</a:t>
            </a:r>
            <a:r>
              <a:rPr dirty="0" spc="-55"/>
              <a:t> </a:t>
            </a:r>
            <a:r>
              <a:rPr dirty="0"/>
              <a:t>tắc</a:t>
            </a:r>
            <a:r>
              <a:rPr dirty="0" spc="-50"/>
              <a:t> </a:t>
            </a:r>
            <a:r>
              <a:rPr dirty="0" spc="-65"/>
              <a:t>nghẽn</a:t>
            </a:r>
            <a:r>
              <a:rPr dirty="0" spc="-45"/>
              <a:t> </a:t>
            </a:r>
            <a:r>
              <a:rPr dirty="0" spc="50"/>
              <a:t>(UDP</a:t>
            </a:r>
            <a:r>
              <a:rPr dirty="0" spc="-55"/>
              <a:t> </a:t>
            </a:r>
            <a:r>
              <a:rPr dirty="0"/>
              <a:t>Load</a:t>
            </a:r>
            <a:r>
              <a:rPr dirty="0" spc="-50"/>
              <a:t> </a:t>
            </a:r>
            <a:r>
              <a:rPr dirty="0" spc="-40"/>
              <a:t>Sweep)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15" y="1095197"/>
            <a:ext cx="59613" cy="5961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24675" y="1018113"/>
            <a:ext cx="2250440" cy="1316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30504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Tăng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dần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tải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UDP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từ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5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Mbps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lên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120 </a:t>
            </a:r>
            <a:r>
              <a:rPr dirty="0" sz="1000" spc="-10">
                <a:latin typeface="Tahoma"/>
                <a:cs typeface="Tahoma"/>
              </a:rPr>
              <a:t>Mbps.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Tahoma"/>
                <a:cs typeface="Tahoma"/>
              </a:rPr>
              <a:t>Khi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tải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vượt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ngưỡng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chịu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đựng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của </a:t>
            </a:r>
            <a:r>
              <a:rPr dirty="0" sz="1000" spc="-35">
                <a:latin typeface="Tahoma"/>
                <a:cs typeface="Tahoma"/>
              </a:rPr>
              <a:t>backbone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(60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Mbps),</a:t>
            </a:r>
            <a:r>
              <a:rPr dirty="0" sz="1000" spc="-40">
                <a:latin typeface="Tahoma"/>
                <a:cs typeface="Tahoma"/>
              </a:rPr>
              <a:t> suy </a:t>
            </a:r>
            <a:r>
              <a:rPr dirty="0" sz="1000" spc="-35">
                <a:latin typeface="Tahoma"/>
                <a:cs typeface="Tahoma"/>
              </a:rPr>
              <a:t>hao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gói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tin </a:t>
            </a:r>
            <a:r>
              <a:rPr dirty="0" sz="1000" spc="-20">
                <a:latin typeface="Tahoma"/>
                <a:cs typeface="Tahoma"/>
              </a:rPr>
              <a:t>(Packet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Loss)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bắt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đầu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xảy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ra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rõ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rệt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ở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mức </a:t>
            </a:r>
            <a:r>
              <a:rPr dirty="0" sz="1000">
                <a:latin typeface="Tahoma"/>
                <a:cs typeface="Tahoma"/>
              </a:rPr>
              <a:t>80M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và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120M.</a:t>
            </a:r>
            <a:endParaRPr sz="1000">
              <a:latin typeface="Tahoma"/>
              <a:cs typeface="Tahoma"/>
            </a:endParaRPr>
          </a:p>
          <a:p>
            <a:pPr marL="12700" marR="19050">
              <a:lnSpc>
                <a:spcPct val="100000"/>
              </a:lnSpc>
              <a:spcBef>
                <a:spcPts val="280"/>
              </a:spcBef>
            </a:pPr>
            <a:r>
              <a:rPr dirty="0" sz="1000">
                <a:latin typeface="Tahoma"/>
                <a:cs typeface="Tahoma"/>
              </a:rPr>
              <a:t>Phản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ánh </a:t>
            </a:r>
            <a:r>
              <a:rPr dirty="0" sz="1000">
                <a:latin typeface="Tahoma"/>
                <a:cs typeface="Tahoma"/>
              </a:rPr>
              <a:t>tính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trung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thực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của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môi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trường </a:t>
            </a:r>
            <a:r>
              <a:rPr dirty="0" sz="1000" spc="-10">
                <a:latin typeface="Tahoma"/>
                <a:cs typeface="Tahoma"/>
              </a:rPr>
              <a:t>mô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phỏng.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15" y="1436814"/>
            <a:ext cx="59613" cy="5961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15" y="2082101"/>
            <a:ext cx="59613" cy="5961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7274" y="851385"/>
            <a:ext cx="2929730" cy="1579848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9" name="object 9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7.</a:t>
            </a:r>
            <a:r>
              <a:rPr dirty="0" spc="-50"/>
              <a:t> </a:t>
            </a:r>
            <a:r>
              <a:rPr dirty="0" spc="-10"/>
              <a:t>Giao</a:t>
            </a:r>
            <a:r>
              <a:rPr dirty="0" spc="-45"/>
              <a:t> </a:t>
            </a:r>
            <a:r>
              <a:rPr dirty="0" spc="-40"/>
              <a:t>diện</a:t>
            </a:r>
            <a:r>
              <a:rPr dirty="0" spc="-45"/>
              <a:t> </a:t>
            </a:r>
            <a:r>
              <a:rPr dirty="0"/>
              <a:t>Giám</a:t>
            </a:r>
            <a:r>
              <a:rPr dirty="0" spc="-45"/>
              <a:t> </a:t>
            </a:r>
            <a:r>
              <a:rPr dirty="0"/>
              <a:t>sát</a:t>
            </a:r>
            <a:r>
              <a:rPr dirty="0" spc="-50"/>
              <a:t> </a:t>
            </a:r>
            <a:r>
              <a:rPr dirty="0" spc="120"/>
              <a:t>&amp;</a:t>
            </a:r>
            <a:r>
              <a:rPr dirty="0" spc="-45"/>
              <a:t> </a:t>
            </a:r>
            <a:r>
              <a:rPr dirty="0"/>
              <a:t>Tự</a:t>
            </a:r>
            <a:r>
              <a:rPr dirty="0" spc="-45"/>
              <a:t> </a:t>
            </a:r>
            <a:r>
              <a:rPr dirty="0" spc="-55"/>
              <a:t>động</a:t>
            </a:r>
            <a:r>
              <a:rPr dirty="0" spc="-45"/>
              <a:t> </a:t>
            </a:r>
            <a:r>
              <a:rPr dirty="0" spc="-25"/>
              <a:t>hóa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15" y="1365237"/>
            <a:ext cx="59613" cy="5961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15" y="1706867"/>
            <a:ext cx="59613" cy="5961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15" y="2048484"/>
            <a:ext cx="59613" cy="59613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1627" y="1060418"/>
            <a:ext cx="2221865" cy="124015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b="1">
                <a:latin typeface="Arial"/>
                <a:cs typeface="Arial"/>
              </a:rPr>
              <a:t>Bộ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40" b="1">
                <a:latin typeface="Arial"/>
                <a:cs typeface="Arial"/>
              </a:rPr>
              <a:t>công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cụ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tự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động:</a:t>
            </a:r>
            <a:endParaRPr sz="1000">
              <a:latin typeface="Arial"/>
              <a:cs typeface="Arial"/>
            </a:endParaRPr>
          </a:p>
          <a:p>
            <a:pPr marL="265430">
              <a:lnSpc>
                <a:spcPts val="1200"/>
              </a:lnSpc>
              <a:spcBef>
                <a:spcPts val="295"/>
              </a:spcBef>
            </a:pPr>
            <a:r>
              <a:rPr dirty="0" sz="1000">
                <a:latin typeface="Tahoma"/>
                <a:cs typeface="Tahoma"/>
              </a:rPr>
              <a:t>Script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chạy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toàn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trình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110">
                <a:latin typeface="Times New Roman"/>
                <a:cs typeface="Times New Roman"/>
              </a:rPr>
              <a:t>run_all.sh</a:t>
            </a:r>
            <a:endParaRPr sz="1000">
              <a:latin typeface="Times New Roman"/>
              <a:cs typeface="Times New Roman"/>
            </a:endParaRPr>
          </a:p>
          <a:p>
            <a:pPr marL="265430">
              <a:lnSpc>
                <a:spcPts val="1200"/>
              </a:lnSpc>
            </a:pPr>
            <a:r>
              <a:rPr dirty="0" sz="1000" spc="-40">
                <a:latin typeface="Tahoma"/>
                <a:cs typeface="Tahoma"/>
              </a:rPr>
              <a:t>xây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dựng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topology,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sinh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log.</a:t>
            </a:r>
            <a:endParaRPr sz="1000">
              <a:latin typeface="Tahoma"/>
              <a:cs typeface="Tahoma"/>
            </a:endParaRP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dirty="0" sz="1000" spc="-35">
                <a:latin typeface="Tahoma"/>
                <a:cs typeface="Tahoma"/>
              </a:rPr>
              <a:t>Ứng</a:t>
            </a:r>
            <a:r>
              <a:rPr dirty="0" sz="1000" spc="-40">
                <a:latin typeface="Tahoma"/>
                <a:cs typeface="Tahoma"/>
              </a:rPr>
              <a:t> dụng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b="1">
                <a:latin typeface="Arial"/>
                <a:cs typeface="Arial"/>
              </a:rPr>
              <a:t>GUI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bằng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Python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hỗ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trợ </a:t>
            </a:r>
            <a:r>
              <a:rPr dirty="0" sz="1000" spc="-50">
                <a:latin typeface="Tahoma"/>
                <a:cs typeface="Tahoma"/>
              </a:rPr>
              <a:t>demo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trực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quan.</a:t>
            </a:r>
            <a:endParaRPr sz="1000">
              <a:latin typeface="Tahoma"/>
              <a:cs typeface="Tahoma"/>
            </a:endParaRPr>
          </a:p>
          <a:p>
            <a:pPr marL="265430" marR="26162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Tahoma"/>
                <a:cs typeface="Tahoma"/>
              </a:rPr>
              <a:t>Theo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dõi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trực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tiếp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tốc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độ,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ping, </a:t>
            </a:r>
            <a:r>
              <a:rPr dirty="0" sz="1000" spc="-30">
                <a:latin typeface="Tahoma"/>
                <a:cs typeface="Tahoma"/>
              </a:rPr>
              <a:t>traceroute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và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vẽ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biểu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đồ.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71432" y="550195"/>
            <a:ext cx="3304198" cy="2314060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9" name="object 9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286" y="59877"/>
            <a:ext cx="8604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8.</a:t>
            </a:r>
            <a:r>
              <a:rPr dirty="0" spc="5"/>
              <a:t> </a:t>
            </a:r>
            <a:r>
              <a:rPr dirty="0"/>
              <a:t>Kết</a:t>
            </a:r>
            <a:r>
              <a:rPr dirty="0" spc="10"/>
              <a:t> </a:t>
            </a:r>
            <a:r>
              <a:rPr dirty="0" spc="-30"/>
              <a:t>luận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679" y="1085011"/>
            <a:ext cx="59613" cy="59613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65430" marR="23241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Arial"/>
                <a:cs typeface="Arial"/>
              </a:rPr>
              <a:t>Đạt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spc="-80" b="1">
                <a:latin typeface="Arial"/>
                <a:cs typeface="Arial"/>
              </a:rPr>
              <a:t>được: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spc="-20"/>
              <a:t>Triển</a:t>
            </a:r>
            <a:r>
              <a:rPr dirty="0" spc="-25"/>
              <a:t> </a:t>
            </a:r>
            <a:r>
              <a:rPr dirty="0" spc="-20"/>
              <a:t>khai</a:t>
            </a:r>
            <a:r>
              <a:rPr dirty="0" spc="-25"/>
              <a:t> </a:t>
            </a:r>
            <a:r>
              <a:rPr dirty="0" spc="-30"/>
              <a:t>thành</a:t>
            </a:r>
            <a:r>
              <a:rPr dirty="0" spc="-25"/>
              <a:t> công</a:t>
            </a:r>
            <a:r>
              <a:rPr dirty="0" spc="-20"/>
              <a:t> </a:t>
            </a:r>
            <a:r>
              <a:rPr dirty="0" spc="-50"/>
              <a:t>hệ</a:t>
            </a:r>
            <a:r>
              <a:rPr dirty="0" spc="-20"/>
              <a:t> </a:t>
            </a:r>
            <a:r>
              <a:rPr dirty="0" spc="-25"/>
              <a:t>thống </a:t>
            </a:r>
            <a:r>
              <a:rPr dirty="0"/>
              <a:t>Metro</a:t>
            </a:r>
            <a:r>
              <a:rPr dirty="0" spc="-25"/>
              <a:t> Ethernet </a:t>
            </a:r>
            <a:r>
              <a:rPr dirty="0" spc="-20"/>
              <a:t>quy</a:t>
            </a:r>
            <a:r>
              <a:rPr dirty="0" spc="-25"/>
              <a:t> </a:t>
            </a:r>
            <a:r>
              <a:rPr dirty="0" spc="-10"/>
              <a:t>mô</a:t>
            </a:r>
            <a:r>
              <a:rPr dirty="0" spc="-25"/>
              <a:t> </a:t>
            </a:r>
            <a:r>
              <a:rPr dirty="0" spc="-30"/>
              <a:t>đa</a:t>
            </a:r>
            <a:r>
              <a:rPr dirty="0" spc="-25"/>
              <a:t> </a:t>
            </a:r>
            <a:r>
              <a:rPr dirty="0"/>
              <a:t>chi</a:t>
            </a:r>
            <a:r>
              <a:rPr dirty="0" spc="-20"/>
              <a:t> </a:t>
            </a:r>
            <a:r>
              <a:rPr dirty="0" spc="-50"/>
              <a:t>nhánh</a:t>
            </a:r>
            <a:r>
              <a:rPr dirty="0" spc="-20"/>
              <a:t> </a:t>
            </a:r>
            <a:r>
              <a:rPr dirty="0" spc="-10"/>
              <a:t>với</a:t>
            </a:r>
            <a:r>
              <a:rPr dirty="0" spc="-25"/>
              <a:t> </a:t>
            </a:r>
            <a:r>
              <a:rPr dirty="0" spc="-50"/>
              <a:t>nền</a:t>
            </a:r>
            <a:r>
              <a:rPr dirty="0" spc="-25"/>
              <a:t> </a:t>
            </a:r>
            <a:r>
              <a:rPr dirty="0" spc="-20"/>
              <a:t>tảng </a:t>
            </a:r>
            <a:r>
              <a:rPr dirty="0"/>
              <a:t>MPLS </a:t>
            </a:r>
            <a:r>
              <a:rPr dirty="0" spc="-10"/>
              <a:t>thực</a:t>
            </a:r>
            <a:r>
              <a:rPr dirty="0"/>
              <a:t> tế</a:t>
            </a:r>
            <a:r>
              <a:rPr dirty="0" spc="5"/>
              <a:t> </a:t>
            </a:r>
            <a:r>
              <a:rPr dirty="0" spc="-25"/>
              <a:t>trên</a:t>
            </a:r>
            <a:r>
              <a:rPr dirty="0"/>
              <a:t> </a:t>
            </a:r>
            <a:r>
              <a:rPr dirty="0" spc="-10"/>
              <a:t>Linux</a:t>
            </a:r>
            <a:r>
              <a:rPr dirty="0"/>
              <a:t> </a:t>
            </a:r>
            <a:r>
              <a:rPr dirty="0" spc="-10"/>
              <a:t>kernel.</a:t>
            </a:r>
          </a:p>
          <a:p>
            <a:pPr marL="265430" marR="138430">
              <a:lnSpc>
                <a:spcPct val="100000"/>
              </a:lnSpc>
              <a:spcBef>
                <a:spcPts val="290"/>
              </a:spcBef>
            </a:pPr>
            <a:r>
              <a:rPr dirty="0" b="1">
                <a:latin typeface="Arial"/>
                <a:cs typeface="Arial"/>
              </a:rPr>
              <a:t>Chất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spc="-65" b="1">
                <a:latin typeface="Arial"/>
                <a:cs typeface="Arial"/>
              </a:rPr>
              <a:t>lượng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spc="-30" b="1">
                <a:latin typeface="Arial"/>
                <a:cs typeface="Arial"/>
              </a:rPr>
              <a:t>mạng: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spc="-25"/>
              <a:t>Đánh</a:t>
            </a:r>
            <a:r>
              <a:rPr dirty="0" spc="-45"/>
              <a:t> </a:t>
            </a:r>
            <a:r>
              <a:rPr dirty="0" spc="-10"/>
              <a:t>giá</a:t>
            </a:r>
            <a:r>
              <a:rPr dirty="0" spc="-45"/>
              <a:t> </a:t>
            </a:r>
            <a:r>
              <a:rPr dirty="0" spc="-20"/>
              <a:t>toàn</a:t>
            </a:r>
            <a:r>
              <a:rPr dirty="0" spc="-40"/>
              <a:t> </a:t>
            </a:r>
            <a:r>
              <a:rPr dirty="0" spc="-30"/>
              <a:t>diện</a:t>
            </a:r>
            <a:r>
              <a:rPr dirty="0" spc="-45"/>
              <a:t> </a:t>
            </a:r>
            <a:r>
              <a:rPr dirty="0" spc="-60"/>
              <a:t>sự</a:t>
            </a:r>
            <a:r>
              <a:rPr dirty="0" spc="-15"/>
              <a:t> </a:t>
            </a:r>
            <a:r>
              <a:rPr dirty="0" spc="-20"/>
              <a:t>khác</a:t>
            </a:r>
            <a:r>
              <a:rPr dirty="0" spc="-45"/>
              <a:t> </a:t>
            </a:r>
            <a:r>
              <a:rPr dirty="0" spc="-10"/>
              <a:t>biệt</a:t>
            </a:r>
            <a:r>
              <a:rPr dirty="0" spc="-40"/>
              <a:t> giữa </a:t>
            </a:r>
            <a:r>
              <a:rPr dirty="0" spc="-35"/>
              <a:t>mạng</a:t>
            </a:r>
            <a:r>
              <a:rPr dirty="0" spc="-45"/>
              <a:t> </a:t>
            </a:r>
            <a:r>
              <a:rPr dirty="0"/>
              <a:t>nội</a:t>
            </a:r>
            <a:r>
              <a:rPr dirty="0" spc="-40"/>
              <a:t> </a:t>
            </a:r>
            <a:r>
              <a:rPr dirty="0"/>
              <a:t>bộ</a:t>
            </a:r>
            <a:r>
              <a:rPr dirty="0" spc="-40"/>
              <a:t> </a:t>
            </a:r>
            <a:r>
              <a:rPr dirty="0" spc="-10"/>
              <a:t>và</a:t>
            </a:r>
            <a:r>
              <a:rPr dirty="0" spc="-45"/>
              <a:t> </a:t>
            </a:r>
            <a:r>
              <a:rPr dirty="0" spc="-35"/>
              <a:t>mạng</a:t>
            </a:r>
            <a:r>
              <a:rPr dirty="0" spc="-45"/>
              <a:t> </a:t>
            </a:r>
            <a:r>
              <a:rPr dirty="0" spc="-30"/>
              <a:t>diện</a:t>
            </a:r>
            <a:r>
              <a:rPr dirty="0" spc="-40"/>
              <a:t> </a:t>
            </a:r>
            <a:r>
              <a:rPr dirty="0" spc="-30"/>
              <a:t>rộng,</a:t>
            </a:r>
            <a:r>
              <a:rPr dirty="0" spc="-45"/>
              <a:t> </a:t>
            </a:r>
            <a:r>
              <a:rPr dirty="0" spc="-20"/>
              <a:t>cũng </a:t>
            </a:r>
            <a:r>
              <a:rPr dirty="0" spc="-45"/>
              <a:t>như</a:t>
            </a:r>
            <a:r>
              <a:rPr dirty="0" spc="-10"/>
              <a:t> </a:t>
            </a:r>
            <a:r>
              <a:rPr dirty="0" spc="-40"/>
              <a:t>phản</a:t>
            </a:r>
            <a:r>
              <a:rPr dirty="0" spc="-10"/>
              <a:t> </a:t>
            </a:r>
            <a:r>
              <a:rPr dirty="0" spc="-40"/>
              <a:t>ứng</a:t>
            </a:r>
            <a:r>
              <a:rPr dirty="0" spc="-5"/>
              <a:t> </a:t>
            </a:r>
            <a:r>
              <a:rPr dirty="0" spc="-30"/>
              <a:t>của</a:t>
            </a:r>
            <a:r>
              <a:rPr dirty="0" spc="-5"/>
              <a:t> </a:t>
            </a:r>
            <a:r>
              <a:rPr dirty="0"/>
              <a:t>MPLS</a:t>
            </a:r>
            <a:r>
              <a:rPr dirty="0" spc="-10"/>
              <a:t> </a:t>
            </a:r>
            <a:r>
              <a:rPr dirty="0" spc="-40"/>
              <a:t>dưới</a:t>
            </a:r>
            <a:r>
              <a:rPr dirty="0" spc="-10"/>
              <a:t> </a:t>
            </a:r>
            <a:r>
              <a:rPr dirty="0"/>
              <a:t>áp lực</a:t>
            </a:r>
            <a:r>
              <a:rPr dirty="0" spc="-10"/>
              <a:t> </a:t>
            </a:r>
            <a:r>
              <a:rPr dirty="0"/>
              <a:t>tải</a:t>
            </a:r>
            <a:r>
              <a:rPr dirty="0" spc="-10"/>
              <a:t> </a:t>
            </a:r>
            <a:r>
              <a:rPr dirty="0" spc="-20"/>
              <a:t>cao.</a:t>
            </a:r>
          </a:p>
          <a:p>
            <a:pPr marL="265430" marR="279400">
              <a:lnSpc>
                <a:spcPct val="100000"/>
              </a:lnSpc>
              <a:spcBef>
                <a:spcPts val="290"/>
              </a:spcBef>
            </a:pPr>
            <a:r>
              <a:rPr dirty="0" b="1">
                <a:latin typeface="Arial"/>
                <a:cs typeface="Arial"/>
              </a:rPr>
              <a:t>Tính</a:t>
            </a:r>
            <a:r>
              <a:rPr dirty="0" spc="-20" b="1">
                <a:latin typeface="Arial"/>
                <a:cs typeface="Arial"/>
              </a:rPr>
              <a:t> minh</a:t>
            </a:r>
            <a:r>
              <a:rPr dirty="0" spc="30" b="1">
                <a:latin typeface="Arial"/>
                <a:cs typeface="Arial"/>
              </a:rPr>
              <a:t> </a:t>
            </a:r>
            <a:r>
              <a:rPr dirty="0" spc="-45" b="1">
                <a:latin typeface="Arial"/>
                <a:cs typeface="Arial"/>
              </a:rPr>
              <a:t>bạch:</a:t>
            </a:r>
            <a:r>
              <a:rPr dirty="0" b="1">
                <a:latin typeface="Arial"/>
                <a:cs typeface="Arial"/>
              </a:rPr>
              <a:t> </a:t>
            </a:r>
            <a:r>
              <a:rPr dirty="0" spc="-75"/>
              <a:t>100%</a:t>
            </a:r>
            <a:r>
              <a:rPr dirty="0" spc="-5"/>
              <a:t> </a:t>
            </a:r>
            <a:r>
              <a:rPr dirty="0"/>
              <a:t>các</a:t>
            </a:r>
            <a:r>
              <a:rPr dirty="0" spc="-35"/>
              <a:t> </a:t>
            </a:r>
            <a:r>
              <a:rPr dirty="0" spc="-25"/>
              <a:t>thông</a:t>
            </a:r>
            <a:r>
              <a:rPr dirty="0" spc="-30"/>
              <a:t> </a:t>
            </a:r>
            <a:r>
              <a:rPr dirty="0" spc="-20"/>
              <a:t>số</a:t>
            </a:r>
            <a:r>
              <a:rPr dirty="0" spc="-40"/>
              <a:t> </a:t>
            </a:r>
            <a:r>
              <a:rPr dirty="0"/>
              <a:t>là</a:t>
            </a:r>
            <a:r>
              <a:rPr dirty="0" spc="-35"/>
              <a:t> </a:t>
            </a:r>
            <a:r>
              <a:rPr dirty="0" spc="-20"/>
              <a:t>kết</a:t>
            </a:r>
            <a:r>
              <a:rPr dirty="0" spc="-35"/>
              <a:t> </a:t>
            </a:r>
            <a:r>
              <a:rPr dirty="0" spc="-25"/>
              <a:t>quả</a:t>
            </a:r>
            <a:r>
              <a:rPr dirty="0" spc="-40"/>
              <a:t> </a:t>
            </a:r>
            <a:r>
              <a:rPr dirty="0" spc="-45"/>
              <a:t>benchmark</a:t>
            </a:r>
            <a:r>
              <a:rPr dirty="0" spc="-30"/>
              <a:t> </a:t>
            </a:r>
            <a:r>
              <a:rPr dirty="0" spc="-10"/>
              <a:t>thật,</a:t>
            </a:r>
            <a:r>
              <a:rPr dirty="0" spc="-35"/>
              <a:t> </a:t>
            </a:r>
            <a:r>
              <a:rPr dirty="0" spc="-20"/>
              <a:t>minh</a:t>
            </a:r>
            <a:r>
              <a:rPr dirty="0" spc="-35"/>
              <a:t> </a:t>
            </a:r>
            <a:r>
              <a:rPr dirty="0" spc="-40"/>
              <a:t>chứng</a:t>
            </a:r>
            <a:r>
              <a:rPr dirty="0" spc="-35"/>
              <a:t> </a:t>
            </a:r>
            <a:r>
              <a:rPr dirty="0" spc="-50"/>
              <a:t>đầy</a:t>
            </a:r>
            <a:r>
              <a:rPr dirty="0" spc="-30"/>
              <a:t> đủ </a:t>
            </a:r>
            <a:r>
              <a:rPr dirty="0" spc="-25"/>
              <a:t>qua</a:t>
            </a:r>
            <a:r>
              <a:rPr dirty="0" spc="-35"/>
              <a:t> </a:t>
            </a:r>
            <a:r>
              <a:rPr dirty="0" spc="-25"/>
              <a:t>log tcpdump</a:t>
            </a:r>
            <a:r>
              <a:rPr dirty="0" spc="-50"/>
              <a:t> </a:t>
            </a:r>
            <a:r>
              <a:rPr dirty="0" spc="-10"/>
              <a:t>và</a:t>
            </a:r>
            <a:r>
              <a:rPr dirty="0" spc="-45"/>
              <a:t> </a:t>
            </a:r>
            <a:r>
              <a:rPr dirty="0" spc="-35"/>
              <a:t>bảng</a:t>
            </a:r>
            <a:r>
              <a:rPr dirty="0" spc="-45"/>
              <a:t> </a:t>
            </a:r>
            <a:r>
              <a:rPr dirty="0" spc="-25"/>
              <a:t>định</a:t>
            </a:r>
            <a:r>
              <a:rPr dirty="0" spc="-40"/>
              <a:t> </a:t>
            </a:r>
            <a:r>
              <a:rPr dirty="0" spc="-10"/>
              <a:t>tuyến.</a:t>
            </a: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dirty="0" spc="-10" b="1">
                <a:latin typeface="Arial"/>
                <a:cs typeface="Arial"/>
              </a:rPr>
              <a:t>Thực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tiễn: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 spc="-20"/>
              <a:t>Công</a:t>
            </a:r>
            <a:r>
              <a:rPr dirty="0" spc="-35"/>
              <a:t> </a:t>
            </a:r>
            <a:r>
              <a:rPr dirty="0" spc="-10"/>
              <a:t>cụ</a:t>
            </a:r>
            <a:r>
              <a:rPr dirty="0" spc="-40"/>
              <a:t> </a:t>
            </a:r>
            <a:r>
              <a:rPr dirty="0"/>
              <a:t>tự</a:t>
            </a:r>
            <a:r>
              <a:rPr dirty="0" spc="-35"/>
              <a:t> </a:t>
            </a:r>
            <a:r>
              <a:rPr dirty="0" spc="-50"/>
              <a:t>động</a:t>
            </a:r>
            <a:r>
              <a:rPr dirty="0" spc="-30"/>
              <a:t> </a:t>
            </a:r>
            <a:r>
              <a:rPr dirty="0" spc="-45"/>
              <a:t>hóa</a:t>
            </a:r>
            <a:r>
              <a:rPr dirty="0" spc="-30"/>
              <a:t> và</a:t>
            </a:r>
            <a:r>
              <a:rPr dirty="0" spc="-40"/>
              <a:t> </a:t>
            </a:r>
            <a:r>
              <a:rPr dirty="0" spc="-10"/>
              <a:t>GUI</a:t>
            </a:r>
            <a:r>
              <a:rPr dirty="0" spc="-35"/>
              <a:t> </a:t>
            </a:r>
            <a:r>
              <a:rPr dirty="0" spc="-25"/>
              <a:t>giúp</a:t>
            </a:r>
            <a:r>
              <a:rPr dirty="0" spc="-40"/>
              <a:t> </a:t>
            </a:r>
            <a:r>
              <a:rPr dirty="0" spc="-25"/>
              <a:t>việc</a:t>
            </a:r>
            <a:r>
              <a:rPr dirty="0" spc="-35"/>
              <a:t> </a:t>
            </a:r>
            <a:r>
              <a:rPr dirty="0" spc="-45"/>
              <a:t>quản</a:t>
            </a:r>
            <a:r>
              <a:rPr dirty="0" spc="-35"/>
              <a:t> </a:t>
            </a:r>
            <a:r>
              <a:rPr dirty="0"/>
              <a:t>trị</a:t>
            </a:r>
            <a:r>
              <a:rPr dirty="0" spc="-35"/>
              <a:t> </a:t>
            </a:r>
            <a:r>
              <a:rPr dirty="0" spc="-30"/>
              <a:t>và</a:t>
            </a:r>
            <a:r>
              <a:rPr dirty="0" spc="-40"/>
              <a:t> </a:t>
            </a:r>
            <a:r>
              <a:rPr dirty="0" spc="-35"/>
              <a:t>giám </a:t>
            </a:r>
            <a:r>
              <a:rPr dirty="0" spc="-20"/>
              <a:t>sát</a:t>
            </a:r>
            <a:r>
              <a:rPr dirty="0" spc="-40"/>
              <a:t> </a:t>
            </a:r>
            <a:r>
              <a:rPr dirty="0" spc="-10"/>
              <a:t>trở</a:t>
            </a:r>
            <a:r>
              <a:rPr dirty="0" spc="-35"/>
              <a:t> </a:t>
            </a:r>
            <a:r>
              <a:rPr dirty="0" spc="-60"/>
              <a:t>nên</a:t>
            </a:r>
            <a:r>
              <a:rPr dirty="0" spc="-20"/>
              <a:t> trực</a:t>
            </a:r>
            <a:r>
              <a:rPr dirty="0" spc="-35"/>
              <a:t> </a:t>
            </a:r>
            <a:r>
              <a:rPr dirty="0" spc="-45"/>
              <a:t>quan,</a:t>
            </a:r>
            <a:r>
              <a:rPr dirty="0" spc="-35"/>
              <a:t> </a:t>
            </a:r>
            <a:r>
              <a:rPr dirty="0" spc="-45"/>
              <a:t>hiện</a:t>
            </a:r>
            <a:r>
              <a:rPr dirty="0" spc="-30"/>
              <a:t> </a:t>
            </a:r>
            <a:r>
              <a:rPr dirty="0" spc="-20"/>
              <a:t>đại.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679" y="1426641"/>
            <a:ext cx="59613" cy="5961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679" y="1768259"/>
            <a:ext cx="59613" cy="5961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679" y="2109876"/>
            <a:ext cx="59613" cy="59613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148621"/>
            <a:ext cx="5760085" cy="91440"/>
            <a:chOff x="0" y="3148621"/>
            <a:chExt cx="5760085" cy="91440"/>
          </a:xfrm>
        </p:grpSpPr>
        <p:sp>
          <p:nvSpPr>
            <p:cNvPr id="9" name="object 9" descr=""/>
            <p:cNvSpPr/>
            <p:nvPr/>
          </p:nvSpPr>
          <p:spPr>
            <a:xfrm>
              <a:off x="0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48621"/>
              <a:ext cx="1920239" cy="91440"/>
            </a:xfrm>
            <a:custGeom>
              <a:avLst/>
              <a:gdLst/>
              <a:ahLst/>
              <a:cxnLst/>
              <a:rect l="l" t="t" r="r" b="b"/>
              <a:pathLst>
                <a:path w="1920239" h="914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N.V.T.Bảo</a:t>
            </a:r>
            <a:r>
              <a:rPr dirty="0" spc="315"/>
              <a:t> </a:t>
            </a:r>
            <a:r>
              <a:rPr dirty="0" spc="-10"/>
              <a:t>(TDTU)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551925" y="3126175"/>
            <a:ext cx="65659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Metro</a:t>
            </a:r>
            <a:r>
              <a:rPr dirty="0" sz="500" spc="6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Ethernet</a:t>
            </a:r>
            <a:r>
              <a:rPr dirty="0" sz="500" spc="65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Microsoft Sans Serif"/>
                <a:cs typeface="Microsoft Sans Serif"/>
                <a:hlinkClick r:id="rId6" action="ppaction://hlinksldjump"/>
              </a:rPr>
              <a:t>MPLS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 spc="-20"/>
              <a:t>10</a:t>
            </a:fld>
            <a:r>
              <a:rPr dirty="0" spc="-40"/>
              <a:t> </a:t>
            </a:r>
            <a:r>
              <a:rPr dirty="0" spc="125"/>
              <a:t>/</a:t>
            </a:r>
            <a:r>
              <a:rPr dirty="0" spc="-35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99" y="116725"/>
            <a:ext cx="423878" cy="4319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125"/>
              </a:spcBef>
            </a:pPr>
            <a:r>
              <a:rPr dirty="0" sz="2450" spc="160" b="1">
                <a:solidFill>
                  <a:srgbClr val="000000"/>
                </a:solidFill>
                <a:latin typeface="Arial"/>
                <a:cs typeface="Arial"/>
              </a:rPr>
              <a:t>XIN</a:t>
            </a:r>
            <a:r>
              <a:rPr dirty="0" sz="2450" spc="24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50" spc="85" b="1">
                <a:solidFill>
                  <a:srgbClr val="000000"/>
                </a:solidFill>
                <a:latin typeface="Arial"/>
                <a:cs typeface="Arial"/>
              </a:rPr>
              <a:t>CHÂN</a:t>
            </a:r>
            <a:r>
              <a:rPr dirty="0" sz="2450" spc="24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50" spc="170" b="1">
                <a:solidFill>
                  <a:srgbClr val="000000"/>
                </a:solidFill>
                <a:latin typeface="Arial"/>
                <a:cs typeface="Arial"/>
              </a:rPr>
              <a:t>THÀNH</a:t>
            </a:r>
            <a:r>
              <a:rPr dirty="0" sz="2450" spc="23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50" spc="125" b="1">
                <a:solidFill>
                  <a:srgbClr val="000000"/>
                </a:solidFill>
                <a:latin typeface="Arial"/>
                <a:cs typeface="Arial"/>
              </a:rPr>
              <a:t>CẢM</a:t>
            </a:r>
            <a:r>
              <a:rPr dirty="0" sz="2450" spc="23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50" spc="-25" b="1">
                <a:solidFill>
                  <a:srgbClr val="000000"/>
                </a:solidFill>
                <a:latin typeface="Arial"/>
                <a:cs typeface="Arial"/>
              </a:rPr>
              <a:t>ƠN!</a:t>
            </a:r>
            <a:endParaRPr sz="24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20914" y="1776244"/>
            <a:ext cx="311848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b="1">
                <a:latin typeface="Arial"/>
                <a:cs typeface="Arial"/>
              </a:rPr>
              <a:t>Thầy</a:t>
            </a:r>
            <a:r>
              <a:rPr dirty="0" sz="1400" spc="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và</a:t>
            </a:r>
            <a:r>
              <a:rPr dirty="0" sz="1400" spc="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các</a:t>
            </a:r>
            <a:r>
              <a:rPr dirty="0" sz="1400" spc="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bạn</a:t>
            </a:r>
            <a:r>
              <a:rPr dirty="0" sz="1400" spc="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đã</a:t>
            </a:r>
            <a:r>
              <a:rPr dirty="0" sz="1400" spc="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chú</a:t>
            </a:r>
            <a:r>
              <a:rPr dirty="0" sz="1400" spc="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ý</a:t>
            </a:r>
            <a:r>
              <a:rPr dirty="0" sz="1400" spc="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lắng</a:t>
            </a:r>
            <a:r>
              <a:rPr dirty="0" sz="1400" spc="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nghe.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61642" y="2523749"/>
            <a:ext cx="1830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Mời</a:t>
            </a:r>
            <a:r>
              <a:rPr dirty="0" sz="1000" spc="-30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Thầy</a:t>
            </a:r>
            <a:r>
              <a:rPr dirty="0" sz="1000" spc="-20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và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spc="-45" i="1">
                <a:latin typeface="Arial"/>
                <a:cs typeface="Arial"/>
              </a:rPr>
              <a:t>các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bạn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đặt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spc="-40" i="1">
                <a:latin typeface="Arial"/>
                <a:cs typeface="Arial"/>
              </a:rPr>
              <a:t>câu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hỏi!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110533" y="3180536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030916" y="317657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208719" y="317657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4326140" y="3167693"/>
            <a:ext cx="203200" cy="55880"/>
            <a:chOff x="4326140" y="3167693"/>
            <a:chExt cx="203200" cy="55880"/>
          </a:xfrm>
        </p:grpSpPr>
        <p:sp>
          <p:nvSpPr>
            <p:cNvPr id="10" name="object 10" descr=""/>
            <p:cNvSpPr/>
            <p:nvPr/>
          </p:nvSpPr>
          <p:spPr>
            <a:xfrm>
              <a:off x="4389309" y="317022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26140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4621365" y="3166428"/>
            <a:ext cx="203200" cy="58419"/>
            <a:chOff x="4621365" y="3166428"/>
            <a:chExt cx="203200" cy="58419"/>
          </a:xfrm>
        </p:grpSpPr>
        <p:sp>
          <p:nvSpPr>
            <p:cNvPr id="13" name="object 13" descr=""/>
            <p:cNvSpPr/>
            <p:nvPr/>
          </p:nvSpPr>
          <p:spPr>
            <a:xfrm>
              <a:off x="4710266" y="3182924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21365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697566" y="31702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4916589" y="3166428"/>
            <a:ext cx="203200" cy="58419"/>
            <a:chOff x="4916589" y="3166428"/>
            <a:chExt cx="203200" cy="58419"/>
          </a:xfrm>
        </p:grpSpPr>
        <p:sp>
          <p:nvSpPr>
            <p:cNvPr id="17" name="object 17" descr=""/>
            <p:cNvSpPr/>
            <p:nvPr/>
          </p:nvSpPr>
          <p:spPr>
            <a:xfrm>
              <a:off x="4992790" y="317022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16589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992790" y="320832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5288014" y="317022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5489266" y="3167693"/>
            <a:ext cx="238760" cy="57150"/>
            <a:chOff x="5489266" y="3167693"/>
            <a:chExt cx="238760" cy="57150"/>
          </a:xfrm>
        </p:grpSpPr>
        <p:sp>
          <p:nvSpPr>
            <p:cNvPr id="22" name="object 22" descr=""/>
            <p:cNvSpPr/>
            <p:nvPr/>
          </p:nvSpPr>
          <p:spPr>
            <a:xfrm>
              <a:off x="5613718" y="320070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586654" y="31742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491797" y="317022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Nguyễn Văn Thiên Bảo - 52300179</dc:creator>
  <dc:title>Thiết kế và triển khai mạng Metro Ethernet sử dụng MPLS cho kết nối đa chi nhánh doanh nghiệp</dc:title>
  <dcterms:created xsi:type="dcterms:W3CDTF">2026-05-06T14:22:39Z</dcterms:created>
  <dcterms:modified xsi:type="dcterms:W3CDTF">2026-05-06T14:22:39Z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2026-05-06T00:00:00Z</vt:filetime>
  </property>
  <property fmtid="{D5CDD505-2E9C-101B-9397-08002B2CF9AE}" pid="5" name="PTEX.Fullbanner">
    <vt:lpwstr>This is pdfTeX, Version 3.141592653-2.6-1.40.25 (TeX Live 2023/Debian) kpathsea version 6.3.5</vt:lpwstr>
  </property>
  <property fmtid="{D5CDD505-2E9C-101B-9397-08002B2CF9AE}" pid="6" name="Producer">
    <vt:lpwstr>pdfTeX-1.40.25</vt:lpwstr>
  </property>
</Properties>
</file>